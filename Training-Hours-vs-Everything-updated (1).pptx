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media/image10.svg" ContentType="image/svg+xml"/>
  <Override PartName="/ppt/media/image12.svg" ContentType="image/svg+xml"/>
  <Override PartName="/ppt/media/image14.svg" ContentType="image/svg+xml"/>
  <Override PartName="/ppt/media/image16.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5"/>
  </p:notesMasterIdLst>
  <p:sldIdLst>
    <p:sldId id="262" r:id="rId3"/>
    <p:sldId id="256" r:id="rId4"/>
    <p:sldId id="257" r:id="rId6"/>
    <p:sldId id="258" r:id="rId7"/>
    <p:sldId id="259" r:id="rId8"/>
    <p:sldId id="260" r:id="rId9"/>
    <p:sldId id="261" r:id="rId10"/>
  </p:sldIdLst>
  <p:sldSz cx="18288000" cy="10287000"/>
  <p:notesSz cx="6858000" cy="9144000"/>
  <p:embeddedFontLst>
    <p:embeddedFont>
      <p:font typeface="Inter" panose="02000503000000020004"/>
      <p:regular r:id="rId14"/>
    </p:embeddedFont>
    <p:embeddedFont>
      <p:font typeface="Inter Bold" panose="02000503000000020004"/>
      <p:bold r:id="rId15"/>
    </p:embeddedFont>
    <p:embeddedFont>
      <p:font typeface="Inter Italics" panose="02000503000000020004"/>
      <p:italic r:id="rId16"/>
    </p:embeddedFont>
    <p:embeddedFont>
      <p:font typeface="Inter Bold Italics" panose="02000503000000020004"/>
      <p:boldItalic r:id="rId17"/>
    </p:embeddedFont>
    <p:embeddedFont>
      <p:font typeface="Calibri" panose="020F0502020204030204" charset="0"/>
      <p:regular r:id="rId18"/>
      <p:bold r:id="rId19"/>
      <p:italic r:id="rId20"/>
      <p:boldItalic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 Type="http://schemas.openxmlformats.org/officeDocument/2006/relationships/slide" Target="slides/slide1.xml"/><Relationship Id="rId21" Type="http://schemas.openxmlformats.org/officeDocument/2006/relationships/font" Target="fonts/font8.fntdata"/><Relationship Id="rId20" Type="http://schemas.openxmlformats.org/officeDocument/2006/relationships/font" Target="fonts/font7.fntdata"/><Relationship Id="rId2" Type="http://schemas.openxmlformats.org/officeDocument/2006/relationships/theme" Target="theme/theme1.xml"/><Relationship Id="rId19" Type="http://schemas.openxmlformats.org/officeDocument/2006/relationships/font" Target="fonts/font6.fntdata"/><Relationship Id="rId18" Type="http://schemas.openxmlformats.org/officeDocument/2006/relationships/font" Target="fonts/font5.fntdata"/><Relationship Id="rId17" Type="http://schemas.openxmlformats.org/officeDocument/2006/relationships/font" Target="fonts/font4.fntdata"/><Relationship Id="rId16" Type="http://schemas.openxmlformats.org/officeDocument/2006/relationships/font" Target="fonts/font3.fntdata"/><Relationship Id="rId15" Type="http://schemas.openxmlformats.org/officeDocument/2006/relationships/font" Target="fonts/font2.fntdata"/><Relationship Id="rId14" Type="http://schemas.openxmlformats.org/officeDocument/2006/relationships/font" Target="fonts/font1.fntdata"/><Relationship Id="rId13" Type="http://schemas.openxmlformats.org/officeDocument/2006/relationships/tableStyles" Target="tableStyles.xml"/><Relationship Id="rId12" Type="http://schemas.openxmlformats.org/officeDocument/2006/relationships/viewProps" Target="viewProps.xml"/><Relationship Id="rId11" Type="http://schemas.openxmlformats.org/officeDocument/2006/relationships/presProps" Target="presProps.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7.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9" Type="http://schemas.openxmlformats.org/officeDocument/2006/relationships/image" Target="../media/image12.svg"/><Relationship Id="rId8" Type="http://schemas.openxmlformats.org/officeDocument/2006/relationships/image" Target="../media/image11.png"/><Relationship Id="rId7" Type="http://schemas.openxmlformats.org/officeDocument/2006/relationships/image" Target="../media/image10.svg"/><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png"/><Relationship Id="rId3" Type="http://schemas.openxmlformats.org/officeDocument/2006/relationships/image" Target="../media/image6.svg"/><Relationship Id="rId2" Type="http://schemas.openxmlformats.org/officeDocument/2006/relationships/image" Target="../media/image5.png"/><Relationship Id="rId16" Type="http://schemas.openxmlformats.org/officeDocument/2006/relationships/notesSlide" Target="../notesSlides/notesSlide3.xml"/><Relationship Id="rId15" Type="http://schemas.openxmlformats.org/officeDocument/2006/relationships/slideLayout" Target="../slideLayouts/slideLayout7.xml"/><Relationship Id="rId14" Type="http://schemas.openxmlformats.org/officeDocument/2006/relationships/image" Target="../media/image17.png"/><Relationship Id="rId13" Type="http://schemas.openxmlformats.org/officeDocument/2006/relationships/image" Target="../media/image16.svg"/><Relationship Id="rId12" Type="http://schemas.openxmlformats.org/officeDocument/2006/relationships/image" Target="../media/image15.png"/><Relationship Id="rId11" Type="http://schemas.openxmlformats.org/officeDocument/2006/relationships/image" Target="../media/image14.svg"/><Relationship Id="rId10" Type="http://schemas.openxmlformats.org/officeDocument/2006/relationships/image" Target="../media/image13.png"/><Relationship Id="rId1" Type="http://schemas.openxmlformats.org/officeDocument/2006/relationships/image" Target="../media/image2.jpe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7.xml"/><Relationship Id="rId2" Type="http://schemas.openxmlformats.org/officeDocument/2006/relationships/image" Target="../media/image18.jpeg"/><Relationship Id="rId1" Type="http://schemas.openxmlformats.org/officeDocument/2006/relationships/image" Target="../media/image2.jpe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7.xml"/><Relationship Id="rId1" Type="http://schemas.openxmlformats.org/officeDocument/2006/relationships/image" Target="../media/image2.jpeg"/></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7.xml"/><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0">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C0C0C"/>
            </a:solidFill>
          </p:spPr>
        </p:sp>
      </p:grpSp>
      <p:grpSp>
        <p:nvGrpSpPr>
          <p:cNvPr id="4" name="Group 4"/>
          <p:cNvGrpSpPr/>
          <p:nvPr/>
        </p:nvGrpSpPr>
        <p:grpSpPr>
          <a:xfrm rot="0">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272525"/>
            </a:solidFill>
          </p:spPr>
        </p:sp>
      </p:grpSp>
      <p:grpSp>
        <p:nvGrpSpPr>
          <p:cNvPr id="6" name="Group 6"/>
          <p:cNvGrpSpPr/>
          <p:nvPr/>
        </p:nvGrpSpPr>
        <p:grpSpPr>
          <a:xfrm rot="0">
            <a:off x="0" y="0"/>
            <a:ext cx="6858000" cy="10287000"/>
            <a:chOff x="0" y="0"/>
            <a:chExt cx="9144000" cy="13716000"/>
          </a:xfrm>
        </p:grpSpPr>
        <p:sp>
          <p:nvSpPr>
            <p:cNvPr id="7" name="Freeform 7" descr="preencoded.png"/>
            <p:cNvSpPr/>
            <p:nvPr/>
          </p:nvSpPr>
          <p:spPr>
            <a:xfrm>
              <a:off x="0" y="0"/>
              <a:ext cx="9144000" cy="13716000"/>
            </a:xfrm>
            <a:custGeom>
              <a:avLst/>
              <a:gdLst/>
              <a:ahLst/>
              <a:cxnLst/>
              <a:rect l="l" t="t" r="r" b="b"/>
              <a:pathLst>
                <a:path w="9144000" h="13716000">
                  <a:moveTo>
                    <a:pt x="0" y="0"/>
                  </a:moveTo>
                  <a:lnTo>
                    <a:pt x="9144000" y="0"/>
                  </a:lnTo>
                  <a:lnTo>
                    <a:pt x="9144000" y="13716000"/>
                  </a:lnTo>
                  <a:lnTo>
                    <a:pt x="0" y="13716000"/>
                  </a:lnTo>
                  <a:lnTo>
                    <a:pt x="0" y="0"/>
                  </a:lnTo>
                  <a:close/>
                </a:path>
              </a:pathLst>
            </a:custGeom>
            <a:blipFill>
              <a:blip r:embed="rId1"/>
              <a:stretch>
                <a:fillRect/>
              </a:stretch>
            </a:blipFill>
          </p:spPr>
        </p:sp>
      </p:grpSp>
      <p:grpSp>
        <p:nvGrpSpPr>
          <p:cNvPr id="8" name="Group 8"/>
          <p:cNvGrpSpPr/>
          <p:nvPr/>
        </p:nvGrpSpPr>
        <p:grpSpPr>
          <a:xfrm rot="0">
            <a:off x="7850238" y="3051419"/>
            <a:ext cx="3419027" cy="466430"/>
            <a:chOff x="0" y="0"/>
            <a:chExt cx="4558703" cy="621906"/>
          </a:xfrm>
        </p:grpSpPr>
        <p:sp>
          <p:nvSpPr>
            <p:cNvPr id="9" name="Freeform 9"/>
            <p:cNvSpPr/>
            <p:nvPr/>
          </p:nvSpPr>
          <p:spPr>
            <a:xfrm>
              <a:off x="0" y="0"/>
              <a:ext cx="4558665" cy="621919"/>
            </a:xfrm>
            <a:custGeom>
              <a:avLst/>
              <a:gdLst/>
              <a:ahLst/>
              <a:cxnLst/>
              <a:rect l="l" t="t" r="r" b="b"/>
              <a:pathLst>
                <a:path w="4558665" h="621919">
                  <a:moveTo>
                    <a:pt x="0" y="111125"/>
                  </a:moveTo>
                  <a:cubicBezTo>
                    <a:pt x="0" y="49784"/>
                    <a:pt x="49784" y="0"/>
                    <a:pt x="111125" y="0"/>
                  </a:cubicBezTo>
                  <a:lnTo>
                    <a:pt x="4447540" y="0"/>
                  </a:lnTo>
                  <a:cubicBezTo>
                    <a:pt x="4508881" y="0"/>
                    <a:pt x="4558665" y="49784"/>
                    <a:pt x="4558665" y="111125"/>
                  </a:cubicBezTo>
                  <a:lnTo>
                    <a:pt x="4558665" y="510794"/>
                  </a:lnTo>
                  <a:cubicBezTo>
                    <a:pt x="4558665" y="572135"/>
                    <a:pt x="4508881" y="621919"/>
                    <a:pt x="4447540" y="621919"/>
                  </a:cubicBezTo>
                  <a:lnTo>
                    <a:pt x="111125" y="621919"/>
                  </a:lnTo>
                  <a:cubicBezTo>
                    <a:pt x="49784" y="621919"/>
                    <a:pt x="0" y="572135"/>
                    <a:pt x="0" y="510794"/>
                  </a:cubicBezTo>
                  <a:close/>
                </a:path>
              </a:pathLst>
            </a:custGeom>
            <a:solidFill>
              <a:srgbClr val="0A004D"/>
            </a:solidFill>
          </p:spPr>
        </p:sp>
      </p:grpSp>
      <p:sp>
        <p:nvSpPr>
          <p:cNvPr id="10" name="TextBox 10"/>
          <p:cNvSpPr txBox="1"/>
          <p:nvPr/>
        </p:nvSpPr>
        <p:spPr>
          <a:xfrm>
            <a:off x="7999066" y="3068688"/>
            <a:ext cx="4035771" cy="374752"/>
          </a:xfrm>
          <a:prstGeom prst="rect">
            <a:avLst/>
          </a:prstGeom>
        </p:spPr>
        <p:txBody>
          <a:bodyPr lIns="0" tIns="0" rIns="0" bIns="0" rtlCol="0" anchor="t">
            <a:spAutoFit/>
          </a:bodyPr>
          <a:lstStyle/>
          <a:p>
            <a:pPr algn="l">
              <a:lnSpc>
                <a:spcPts val="2395"/>
              </a:lnSpc>
            </a:pPr>
            <a:r>
              <a:rPr lang="en-US" sz="1500">
                <a:solidFill>
                  <a:srgbClr val="E5E0DF"/>
                </a:solidFill>
                <a:latin typeface="Inter" panose="02000503000000020004"/>
                <a:ea typeface="Inter" panose="02000503000000020004"/>
                <a:cs typeface="Inter" panose="02000503000000020004"/>
                <a:sym typeface="Inter" panose="02000503000000020004"/>
              </a:rPr>
              <a:t>GROUP 4</a:t>
            </a:r>
            <a:endParaRPr lang="en-US" sz="1500">
              <a:solidFill>
                <a:srgbClr val="E5E0DF"/>
              </a:solidFill>
              <a:latin typeface="Inter" panose="02000503000000020004"/>
              <a:ea typeface="Inter" panose="02000503000000020004"/>
              <a:cs typeface="Inter" panose="02000503000000020004"/>
              <a:sym typeface="Inter" panose="02000503000000020004"/>
            </a:endParaRPr>
          </a:p>
        </p:txBody>
      </p:sp>
      <p:sp>
        <p:nvSpPr>
          <p:cNvPr id="11" name="TextBox 11"/>
          <p:cNvSpPr txBox="1"/>
          <p:nvPr/>
        </p:nvSpPr>
        <p:spPr>
          <a:xfrm>
            <a:off x="7850238" y="3597916"/>
            <a:ext cx="9700622" cy="794147"/>
          </a:xfrm>
          <a:prstGeom prst="rect">
            <a:avLst/>
          </a:prstGeom>
        </p:spPr>
        <p:txBody>
          <a:bodyPr lIns="0" tIns="0" rIns="0" bIns="0" rtlCol="0" anchor="t">
            <a:spAutoFit/>
          </a:bodyPr>
          <a:lstStyle/>
          <a:p>
            <a:pPr algn="l">
              <a:lnSpc>
                <a:spcPts val="5990"/>
              </a:lnSpc>
            </a:pPr>
            <a:r>
              <a:rPr lang="en-US" sz="4800" b="1">
                <a:solidFill>
                  <a:srgbClr val="FFFFFF"/>
                </a:solidFill>
                <a:latin typeface="Inter Bold" panose="02000503000000020004"/>
                <a:ea typeface="Inter Bold" panose="02000503000000020004"/>
                <a:cs typeface="Inter Bold" panose="02000503000000020004"/>
                <a:sym typeface="Inter Bold" panose="02000503000000020004"/>
              </a:rPr>
              <a:t>Training Hours vs Everything</a:t>
            </a:r>
            <a:endParaRPr lang="en-US" sz="4800" b="1">
              <a:solidFill>
                <a:srgbClr val="FFFFFF"/>
              </a:solidFill>
              <a:latin typeface="Inter Bold" panose="02000503000000020004"/>
              <a:ea typeface="Inter Bold" panose="02000503000000020004"/>
              <a:cs typeface="Inter Bold" panose="02000503000000020004"/>
              <a:sym typeface="Inter Bold" panose="02000503000000020004"/>
            </a:endParaRPr>
          </a:p>
        </p:txBody>
      </p:sp>
      <p:sp>
        <p:nvSpPr>
          <p:cNvPr id="12" name="TextBox 12"/>
          <p:cNvSpPr txBox="1"/>
          <p:nvPr/>
        </p:nvSpPr>
        <p:spPr>
          <a:xfrm>
            <a:off x="7850238" y="4481665"/>
            <a:ext cx="10177310" cy="397221"/>
          </a:xfrm>
          <a:prstGeom prst="rect">
            <a:avLst/>
          </a:prstGeom>
        </p:spPr>
        <p:txBody>
          <a:bodyPr lIns="0" tIns="0" rIns="0" bIns="0" rtlCol="0" anchor="t">
            <a:spAutoFit/>
          </a:bodyPr>
          <a:lstStyle/>
          <a:p>
            <a:pPr algn="l">
              <a:lnSpc>
                <a:spcPts val="2995"/>
              </a:lnSpc>
            </a:pPr>
            <a:r>
              <a:rPr lang="en-US" sz="2400" b="1">
                <a:solidFill>
                  <a:srgbClr val="FFFFFF"/>
                </a:solidFill>
                <a:latin typeface="Inter Bold" panose="02000503000000020004"/>
                <a:ea typeface="Inter Bold" panose="02000503000000020004"/>
                <a:cs typeface="Inter Bold" panose="02000503000000020004"/>
                <a:sym typeface="Inter Bold" panose="02000503000000020004"/>
              </a:rPr>
              <a:t>Analyzing the Impact of AI Training on Business Performance</a:t>
            </a:r>
            <a:endParaRPr lang="en-US" sz="2400" b="1">
              <a:solidFill>
                <a:srgbClr val="FFFFFF"/>
              </a:solidFill>
              <a:latin typeface="Inter Bold" panose="02000503000000020004"/>
              <a:ea typeface="Inter Bold" panose="02000503000000020004"/>
              <a:cs typeface="Inter Bold" panose="02000503000000020004"/>
              <a:sym typeface="Inter Bold" panose="02000503000000020004"/>
            </a:endParaRPr>
          </a:p>
        </p:txBody>
      </p:sp>
      <p:sp>
        <p:nvSpPr>
          <p:cNvPr id="13" name="TextBox 13"/>
          <p:cNvSpPr txBox="1"/>
          <p:nvPr/>
        </p:nvSpPr>
        <p:spPr>
          <a:xfrm>
            <a:off x="7850238" y="5174752"/>
            <a:ext cx="9445523" cy="2060819"/>
          </a:xfrm>
          <a:prstGeom prst="rect">
            <a:avLst/>
          </a:prstGeom>
        </p:spPr>
        <p:txBody>
          <a:bodyPr lIns="0" tIns="0" rIns="0" bIns="0" rtlCol="0" anchor="t">
            <a:spAutoFit/>
          </a:bodyPr>
          <a:lstStyle/>
          <a:p>
            <a:pPr algn="l">
              <a:lnSpc>
                <a:spcPts val="3030"/>
              </a:lnSpc>
            </a:pPr>
            <a:r>
              <a:rPr lang="en-US" sz="1900" b="1">
                <a:solidFill>
                  <a:srgbClr val="E5E0DF"/>
                </a:solidFill>
                <a:latin typeface="Inter Bold" panose="02000503000000020004"/>
                <a:ea typeface="Inter Bold" panose="02000503000000020004"/>
                <a:cs typeface="Inter Bold" panose="02000503000000020004"/>
                <a:sym typeface="Inter Bold" panose="02000503000000020004"/>
              </a:rPr>
              <a:t>Team Members</a:t>
            </a:r>
            <a:endParaRPr lang="en-US" sz="1900" b="1">
              <a:solidFill>
                <a:srgbClr val="E5E0DF"/>
              </a:solidFill>
              <a:latin typeface="Inter Bold" panose="02000503000000020004"/>
              <a:ea typeface="Inter Bold" panose="02000503000000020004"/>
              <a:cs typeface="Inter Bold" panose="02000503000000020004"/>
              <a:sym typeface="Inter Bold" panose="02000503000000020004"/>
            </a:endParaRPr>
          </a:p>
          <a:p>
            <a:pPr algn="l">
              <a:lnSpc>
                <a:spcPts val="3030"/>
              </a:lnSpc>
            </a:pPr>
            <a:r>
              <a:rPr lang="en-US" sz="1800">
                <a:solidFill>
                  <a:srgbClr val="E5E0DF"/>
                </a:solidFill>
                <a:latin typeface="Inter" panose="02000503000000020004"/>
                <a:ea typeface="Inter" panose="02000503000000020004"/>
                <a:cs typeface="Inter" panose="02000503000000020004"/>
                <a:sym typeface="Inter" panose="02000503000000020004"/>
              </a:rPr>
              <a:t>1. Joydip Deb</a:t>
            </a:r>
            <a:endParaRPr lang="en-US" sz="1800">
              <a:solidFill>
                <a:srgbClr val="E5E0DF"/>
              </a:solidFill>
              <a:latin typeface="Inter" panose="02000503000000020004"/>
              <a:ea typeface="Inter" panose="02000503000000020004"/>
              <a:cs typeface="Inter" panose="02000503000000020004"/>
              <a:sym typeface="Inter" panose="02000503000000020004"/>
            </a:endParaRPr>
          </a:p>
          <a:p>
            <a:pPr algn="l">
              <a:lnSpc>
                <a:spcPts val="3030"/>
              </a:lnSpc>
            </a:pPr>
            <a:r>
              <a:rPr lang="en-US" sz="1800">
                <a:solidFill>
                  <a:srgbClr val="E5E0DF"/>
                </a:solidFill>
                <a:latin typeface="Inter" panose="02000503000000020004"/>
                <a:ea typeface="Inter" panose="02000503000000020004"/>
                <a:cs typeface="Inter" panose="02000503000000020004"/>
                <a:sym typeface="Inter" panose="02000503000000020004"/>
              </a:rPr>
              <a:t>2. Akshita Raj</a:t>
            </a:r>
            <a:endParaRPr lang="en-US" sz="1800">
              <a:solidFill>
                <a:srgbClr val="E5E0DF"/>
              </a:solidFill>
              <a:latin typeface="Inter" panose="02000503000000020004"/>
              <a:ea typeface="Inter" panose="02000503000000020004"/>
              <a:cs typeface="Inter" panose="02000503000000020004"/>
              <a:sym typeface="Inter" panose="02000503000000020004"/>
            </a:endParaRPr>
          </a:p>
          <a:p>
            <a:pPr algn="l">
              <a:lnSpc>
                <a:spcPts val="3030"/>
              </a:lnSpc>
            </a:pPr>
            <a:r>
              <a:rPr lang="en-US" sz="1800">
                <a:solidFill>
                  <a:srgbClr val="E5E0DF"/>
                </a:solidFill>
                <a:latin typeface="Inter" panose="02000503000000020004"/>
                <a:ea typeface="Inter" panose="02000503000000020004"/>
                <a:cs typeface="Inter" panose="02000503000000020004"/>
                <a:sym typeface="Inter" panose="02000503000000020004"/>
              </a:rPr>
              <a:t>3. Srujan</a:t>
            </a:r>
            <a:endParaRPr lang="en-US" sz="1800">
              <a:solidFill>
                <a:srgbClr val="E5E0DF"/>
              </a:solidFill>
              <a:latin typeface="Inter" panose="02000503000000020004"/>
              <a:ea typeface="Inter" panose="02000503000000020004"/>
              <a:cs typeface="Inter" panose="02000503000000020004"/>
              <a:sym typeface="Inter" panose="02000503000000020004"/>
            </a:endParaRPr>
          </a:p>
          <a:p>
            <a:pPr algn="l">
              <a:lnSpc>
                <a:spcPts val="3030"/>
              </a:lnSpc>
            </a:pPr>
            <a:r>
              <a:rPr lang="en-US" sz="1800">
                <a:solidFill>
                  <a:srgbClr val="E5E0DF"/>
                </a:solidFill>
                <a:latin typeface="Inter" panose="02000503000000020004"/>
                <a:ea typeface="Inter" panose="02000503000000020004"/>
                <a:cs typeface="Inter" panose="02000503000000020004"/>
                <a:sym typeface="Inter" panose="02000503000000020004"/>
              </a:rPr>
              <a:t>4. Heerak Tiwari</a:t>
            </a:r>
            <a:endParaRPr lang="en-US" sz="1800">
              <a:solidFill>
                <a:srgbClr val="E5E0DF"/>
              </a:solidFill>
              <a:latin typeface="Inter" panose="02000503000000020004"/>
              <a:ea typeface="Inter" panose="02000503000000020004"/>
              <a:cs typeface="Inter" panose="02000503000000020004"/>
              <a:sym typeface="Inter" panose="02000503000000020004"/>
            </a:endParaRPr>
          </a:p>
          <a:p>
            <a:pPr algn="l">
              <a:lnSpc>
                <a:spcPts val="3030"/>
              </a:lnSpc>
            </a:pPr>
            <a:r>
              <a:rPr lang="en-US" sz="1800">
                <a:solidFill>
                  <a:srgbClr val="E5E0DF"/>
                </a:solidFill>
                <a:latin typeface="Inter" panose="02000503000000020004"/>
                <a:ea typeface="Inter" panose="02000503000000020004"/>
                <a:cs typeface="Inter" panose="02000503000000020004"/>
                <a:sym typeface="Inter" panose="02000503000000020004"/>
              </a:rPr>
              <a:t>5. Nirattya Biswas</a:t>
            </a:r>
            <a:endParaRPr lang="en-US" sz="1800">
              <a:solidFill>
                <a:srgbClr val="E5E0DF"/>
              </a:solidFill>
              <a:latin typeface="Inter" panose="02000503000000020004"/>
              <a:ea typeface="Inter" panose="02000503000000020004"/>
              <a:cs typeface="Inter" panose="02000503000000020004"/>
              <a:sym typeface="Inter" panose="020005030000000200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0">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C0C0C"/>
            </a:solidFill>
          </p:spPr>
        </p:sp>
      </p:grpSp>
      <p:grpSp>
        <p:nvGrpSpPr>
          <p:cNvPr id="4" name="Group 4"/>
          <p:cNvGrpSpPr/>
          <p:nvPr/>
        </p:nvGrpSpPr>
        <p:grpSpPr>
          <a:xfrm rot="0">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272525"/>
            </a:solidFill>
          </p:spPr>
        </p:sp>
      </p:grpSp>
      <p:grpSp>
        <p:nvGrpSpPr>
          <p:cNvPr id="6" name="Group 6"/>
          <p:cNvGrpSpPr/>
          <p:nvPr/>
        </p:nvGrpSpPr>
        <p:grpSpPr>
          <a:xfrm rot="0">
            <a:off x="0" y="0"/>
            <a:ext cx="6858000" cy="10287000"/>
            <a:chOff x="0" y="0"/>
            <a:chExt cx="9144000" cy="13716000"/>
          </a:xfrm>
        </p:grpSpPr>
        <p:sp>
          <p:nvSpPr>
            <p:cNvPr id="7" name="Freeform 7" descr="preencoded.png"/>
            <p:cNvSpPr/>
            <p:nvPr/>
          </p:nvSpPr>
          <p:spPr>
            <a:xfrm>
              <a:off x="0" y="0"/>
              <a:ext cx="9144000" cy="13716000"/>
            </a:xfrm>
            <a:custGeom>
              <a:avLst/>
              <a:gdLst/>
              <a:ahLst/>
              <a:cxnLst/>
              <a:rect l="l" t="t" r="r" b="b"/>
              <a:pathLst>
                <a:path w="9144000" h="13716000">
                  <a:moveTo>
                    <a:pt x="0" y="0"/>
                  </a:moveTo>
                  <a:lnTo>
                    <a:pt x="9144000" y="0"/>
                  </a:lnTo>
                  <a:lnTo>
                    <a:pt x="9144000" y="13716000"/>
                  </a:lnTo>
                  <a:lnTo>
                    <a:pt x="0" y="13716000"/>
                  </a:lnTo>
                  <a:lnTo>
                    <a:pt x="0" y="0"/>
                  </a:lnTo>
                  <a:close/>
                </a:path>
              </a:pathLst>
            </a:custGeom>
            <a:blipFill>
              <a:blip r:embed="rId1"/>
              <a:stretch>
                <a:fillRect/>
              </a:stretch>
            </a:blipFill>
          </p:spPr>
        </p:sp>
      </p:grpSp>
      <p:grpSp>
        <p:nvGrpSpPr>
          <p:cNvPr id="8" name="Group 8"/>
          <p:cNvGrpSpPr/>
          <p:nvPr/>
        </p:nvGrpSpPr>
        <p:grpSpPr>
          <a:xfrm rot="0">
            <a:off x="7850238" y="3051419"/>
            <a:ext cx="3419027" cy="466430"/>
            <a:chOff x="0" y="0"/>
            <a:chExt cx="4558703" cy="621906"/>
          </a:xfrm>
        </p:grpSpPr>
        <p:sp>
          <p:nvSpPr>
            <p:cNvPr id="9" name="Freeform 9"/>
            <p:cNvSpPr/>
            <p:nvPr/>
          </p:nvSpPr>
          <p:spPr>
            <a:xfrm>
              <a:off x="0" y="0"/>
              <a:ext cx="4558665" cy="621919"/>
            </a:xfrm>
            <a:custGeom>
              <a:avLst/>
              <a:gdLst/>
              <a:ahLst/>
              <a:cxnLst/>
              <a:rect l="l" t="t" r="r" b="b"/>
              <a:pathLst>
                <a:path w="4558665" h="621919">
                  <a:moveTo>
                    <a:pt x="0" y="111125"/>
                  </a:moveTo>
                  <a:cubicBezTo>
                    <a:pt x="0" y="49784"/>
                    <a:pt x="49784" y="0"/>
                    <a:pt x="111125" y="0"/>
                  </a:cubicBezTo>
                  <a:lnTo>
                    <a:pt x="4447540" y="0"/>
                  </a:lnTo>
                  <a:cubicBezTo>
                    <a:pt x="4508881" y="0"/>
                    <a:pt x="4558665" y="49784"/>
                    <a:pt x="4558665" y="111125"/>
                  </a:cubicBezTo>
                  <a:lnTo>
                    <a:pt x="4558665" y="510794"/>
                  </a:lnTo>
                  <a:cubicBezTo>
                    <a:pt x="4558665" y="572135"/>
                    <a:pt x="4508881" y="621919"/>
                    <a:pt x="4447540" y="621919"/>
                  </a:cubicBezTo>
                  <a:lnTo>
                    <a:pt x="111125" y="621919"/>
                  </a:lnTo>
                  <a:cubicBezTo>
                    <a:pt x="49784" y="621919"/>
                    <a:pt x="0" y="572135"/>
                    <a:pt x="0" y="510794"/>
                  </a:cubicBezTo>
                  <a:close/>
                </a:path>
              </a:pathLst>
            </a:custGeom>
            <a:solidFill>
              <a:srgbClr val="0A004D"/>
            </a:solidFill>
          </p:spPr>
        </p:sp>
      </p:grpSp>
      <p:sp>
        <p:nvSpPr>
          <p:cNvPr id="10" name="TextBox 10"/>
          <p:cNvSpPr txBox="1"/>
          <p:nvPr/>
        </p:nvSpPr>
        <p:spPr>
          <a:xfrm>
            <a:off x="7999066" y="3068688"/>
            <a:ext cx="4035771" cy="374752"/>
          </a:xfrm>
          <a:prstGeom prst="rect">
            <a:avLst/>
          </a:prstGeom>
        </p:spPr>
        <p:txBody>
          <a:bodyPr lIns="0" tIns="0" rIns="0" bIns="0" rtlCol="0" anchor="t">
            <a:spAutoFit/>
          </a:bodyPr>
          <a:lstStyle/>
          <a:p>
            <a:pPr algn="l">
              <a:lnSpc>
                <a:spcPts val="2395"/>
              </a:lnSpc>
            </a:pPr>
            <a:r>
              <a:rPr lang="en-US" sz="1500">
                <a:solidFill>
                  <a:srgbClr val="E5E0DF"/>
                </a:solidFill>
                <a:latin typeface="Inter" panose="02000503000000020004"/>
                <a:ea typeface="Inter" panose="02000503000000020004"/>
                <a:cs typeface="Inter" panose="02000503000000020004"/>
                <a:sym typeface="Inter" panose="02000503000000020004"/>
              </a:rPr>
              <a:t>ACADEMIC RESEARCH PROJECT</a:t>
            </a:r>
            <a:endParaRPr lang="en-US" sz="1500">
              <a:solidFill>
                <a:srgbClr val="E5E0DF"/>
              </a:solidFill>
              <a:latin typeface="Inter" panose="02000503000000020004"/>
              <a:ea typeface="Inter" panose="02000503000000020004"/>
              <a:cs typeface="Inter" panose="02000503000000020004"/>
              <a:sym typeface="Inter" panose="02000503000000020004"/>
            </a:endParaRPr>
          </a:p>
        </p:txBody>
      </p:sp>
      <p:sp>
        <p:nvSpPr>
          <p:cNvPr id="11" name="TextBox 11"/>
          <p:cNvSpPr txBox="1"/>
          <p:nvPr/>
        </p:nvSpPr>
        <p:spPr>
          <a:xfrm>
            <a:off x="7850238" y="3597916"/>
            <a:ext cx="9700622" cy="794147"/>
          </a:xfrm>
          <a:prstGeom prst="rect">
            <a:avLst/>
          </a:prstGeom>
        </p:spPr>
        <p:txBody>
          <a:bodyPr lIns="0" tIns="0" rIns="0" bIns="0" rtlCol="0" anchor="t">
            <a:spAutoFit/>
          </a:bodyPr>
          <a:lstStyle/>
          <a:p>
            <a:pPr algn="l">
              <a:lnSpc>
                <a:spcPts val="5990"/>
              </a:lnSpc>
            </a:pPr>
            <a:r>
              <a:rPr lang="en-US" sz="4800" b="1">
                <a:solidFill>
                  <a:srgbClr val="FFFFFF"/>
                </a:solidFill>
                <a:latin typeface="Inter Bold" panose="02000503000000020004"/>
                <a:ea typeface="Inter Bold" panose="02000503000000020004"/>
                <a:cs typeface="Inter Bold" panose="02000503000000020004"/>
                <a:sym typeface="Inter Bold" panose="02000503000000020004"/>
              </a:rPr>
              <a:t>Training Hours vs Everything</a:t>
            </a:r>
            <a:endParaRPr lang="en-US" sz="4800" b="1">
              <a:solidFill>
                <a:srgbClr val="FFFFFF"/>
              </a:solidFill>
              <a:latin typeface="Inter Bold" panose="02000503000000020004"/>
              <a:ea typeface="Inter Bold" panose="02000503000000020004"/>
              <a:cs typeface="Inter Bold" panose="02000503000000020004"/>
              <a:sym typeface="Inter Bold" panose="02000503000000020004"/>
            </a:endParaRPr>
          </a:p>
        </p:txBody>
      </p:sp>
      <p:sp>
        <p:nvSpPr>
          <p:cNvPr id="12" name="TextBox 12"/>
          <p:cNvSpPr txBox="1"/>
          <p:nvPr/>
        </p:nvSpPr>
        <p:spPr>
          <a:xfrm>
            <a:off x="7850238" y="4481665"/>
            <a:ext cx="10177310" cy="397221"/>
          </a:xfrm>
          <a:prstGeom prst="rect">
            <a:avLst/>
          </a:prstGeom>
        </p:spPr>
        <p:txBody>
          <a:bodyPr lIns="0" tIns="0" rIns="0" bIns="0" rtlCol="0" anchor="t">
            <a:spAutoFit/>
          </a:bodyPr>
          <a:lstStyle/>
          <a:p>
            <a:pPr algn="l">
              <a:lnSpc>
                <a:spcPts val="2995"/>
              </a:lnSpc>
            </a:pPr>
            <a:r>
              <a:rPr lang="en-US" sz="2400" b="1">
                <a:solidFill>
                  <a:srgbClr val="FFFFFF"/>
                </a:solidFill>
                <a:latin typeface="Inter Bold" panose="02000503000000020004"/>
                <a:ea typeface="Inter Bold" panose="02000503000000020004"/>
                <a:cs typeface="Inter Bold" panose="02000503000000020004"/>
                <a:sym typeface="Inter Bold" panose="02000503000000020004"/>
              </a:rPr>
              <a:t>Analyzing the Impact of AI Training on Business Performance</a:t>
            </a:r>
            <a:endParaRPr lang="en-US" sz="2400" b="1">
              <a:solidFill>
                <a:srgbClr val="FFFFFF"/>
              </a:solidFill>
              <a:latin typeface="Inter Bold" panose="02000503000000020004"/>
              <a:ea typeface="Inter Bold" panose="02000503000000020004"/>
              <a:cs typeface="Inter Bold" panose="02000503000000020004"/>
              <a:sym typeface="Inter Bold" panose="02000503000000020004"/>
            </a:endParaRPr>
          </a:p>
        </p:txBody>
      </p:sp>
      <p:sp>
        <p:nvSpPr>
          <p:cNvPr id="13" name="TextBox 13"/>
          <p:cNvSpPr txBox="1"/>
          <p:nvPr/>
        </p:nvSpPr>
        <p:spPr>
          <a:xfrm>
            <a:off x="7850238" y="5174752"/>
            <a:ext cx="9445523" cy="2060819"/>
          </a:xfrm>
          <a:prstGeom prst="rect">
            <a:avLst/>
          </a:prstGeom>
        </p:spPr>
        <p:txBody>
          <a:bodyPr lIns="0" tIns="0" rIns="0" bIns="0" rtlCol="0" anchor="t">
            <a:spAutoFit/>
          </a:bodyPr>
          <a:lstStyle/>
          <a:p>
            <a:pPr algn="l">
              <a:lnSpc>
                <a:spcPts val="3030"/>
              </a:lnSpc>
            </a:pPr>
            <a:r>
              <a:rPr lang="en-US" sz="1900">
                <a:solidFill>
                  <a:srgbClr val="E5E0DF"/>
                </a:solidFill>
                <a:latin typeface="Inter" panose="02000503000000020004"/>
                <a:ea typeface="Inter" panose="02000503000000020004"/>
                <a:cs typeface="Inter" panose="02000503000000020004"/>
                <a:sym typeface="Inter" panose="02000503000000020004"/>
              </a:rPr>
              <a:t>Organizations invest heavily in AI tools and employee training, yet </a:t>
            </a:r>
            <a:r>
              <a:rPr lang="en-US" sz="1900" b="1">
                <a:solidFill>
                  <a:srgbClr val="E5E0DF"/>
                </a:solidFill>
                <a:latin typeface="Inter Bold" panose="02000503000000020004"/>
                <a:ea typeface="Inter Bold" panose="02000503000000020004"/>
                <a:cs typeface="Inter Bold" panose="02000503000000020004"/>
                <a:sym typeface="Inter Bold" panose="02000503000000020004"/>
              </a:rPr>
              <a:t>clear evidence of training effectiveness remains elusive</a:t>
            </a:r>
            <a:r>
              <a:rPr lang="en-US" sz="1900">
                <a:solidFill>
                  <a:srgbClr val="E5E0DF"/>
                </a:solidFill>
                <a:latin typeface="Inter" panose="02000503000000020004"/>
                <a:ea typeface="Inter" panose="02000503000000020004"/>
                <a:cs typeface="Inter" panose="02000503000000020004"/>
                <a:sym typeface="Inter" panose="02000503000000020004"/>
              </a:rPr>
              <a:t>. Decision-makers struggle to determine whether increased training hours translate into measurable business outcomes. This research analyzes the relationship between AI training hours and business performance metrics using real corporate AI adoption data.</a:t>
            </a:r>
            <a:endParaRPr lang="en-US" sz="1900">
              <a:solidFill>
                <a:srgbClr val="E5E0DF"/>
              </a:solidFill>
              <a:latin typeface="Inter" panose="02000503000000020004"/>
              <a:ea typeface="Inter" panose="02000503000000020004"/>
              <a:cs typeface="Inter" panose="02000503000000020004"/>
              <a:sym typeface="Inter" panose="020005030000000200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0">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C0C0C"/>
            </a:solidFill>
          </p:spPr>
        </p:sp>
      </p:grpSp>
      <p:grpSp>
        <p:nvGrpSpPr>
          <p:cNvPr id="4" name="Group 4"/>
          <p:cNvGrpSpPr/>
          <p:nvPr/>
        </p:nvGrpSpPr>
        <p:grpSpPr>
          <a:xfrm rot="0">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272525"/>
            </a:solidFill>
          </p:spPr>
        </p:sp>
      </p:grpSp>
      <p:grpSp>
        <p:nvGrpSpPr>
          <p:cNvPr id="6" name="Group 6"/>
          <p:cNvGrpSpPr/>
          <p:nvPr/>
        </p:nvGrpSpPr>
        <p:grpSpPr>
          <a:xfrm rot="0">
            <a:off x="2566988" y="460924"/>
            <a:ext cx="1674619" cy="306886"/>
            <a:chOff x="0" y="0"/>
            <a:chExt cx="2232825" cy="409181"/>
          </a:xfrm>
        </p:grpSpPr>
        <p:sp>
          <p:nvSpPr>
            <p:cNvPr id="7" name="Freeform 7"/>
            <p:cNvSpPr/>
            <p:nvPr/>
          </p:nvSpPr>
          <p:spPr>
            <a:xfrm>
              <a:off x="0" y="0"/>
              <a:ext cx="2232787" cy="409194"/>
            </a:xfrm>
            <a:custGeom>
              <a:avLst/>
              <a:gdLst/>
              <a:ahLst/>
              <a:cxnLst/>
              <a:rect l="l" t="t" r="r" b="b"/>
              <a:pathLst>
                <a:path w="2232787" h="409194">
                  <a:moveTo>
                    <a:pt x="0" y="77089"/>
                  </a:moveTo>
                  <a:cubicBezTo>
                    <a:pt x="0" y="34544"/>
                    <a:pt x="34544" y="0"/>
                    <a:pt x="77089" y="0"/>
                  </a:cubicBezTo>
                  <a:lnTo>
                    <a:pt x="2155698" y="0"/>
                  </a:lnTo>
                  <a:cubicBezTo>
                    <a:pt x="2198243" y="0"/>
                    <a:pt x="2232787" y="34544"/>
                    <a:pt x="2232787" y="77089"/>
                  </a:cubicBezTo>
                  <a:lnTo>
                    <a:pt x="2232787" y="332105"/>
                  </a:lnTo>
                  <a:cubicBezTo>
                    <a:pt x="2232787" y="374650"/>
                    <a:pt x="2198243" y="409194"/>
                    <a:pt x="2155698" y="409194"/>
                  </a:cubicBezTo>
                  <a:lnTo>
                    <a:pt x="77089" y="409194"/>
                  </a:lnTo>
                  <a:cubicBezTo>
                    <a:pt x="34544" y="409194"/>
                    <a:pt x="0" y="374650"/>
                    <a:pt x="0" y="332105"/>
                  </a:cubicBezTo>
                  <a:close/>
                </a:path>
              </a:pathLst>
            </a:custGeom>
            <a:blipFill>
              <a:blip r:embed="rId1">
                <a:alphaModFix amt="0"/>
              </a:blip>
              <a:stretch>
                <a:fillRect t="-56324" r="-1" b="-56321"/>
              </a:stretch>
            </a:blipFill>
            <a:ln w="9526" cap="sq">
              <a:solidFill>
                <a:srgbClr val="2B0AFF"/>
              </a:solidFill>
              <a:prstDash val="solid"/>
              <a:miter/>
            </a:ln>
          </p:spPr>
        </p:sp>
      </p:grpSp>
      <p:sp>
        <p:nvSpPr>
          <p:cNvPr id="8" name="TextBox 8"/>
          <p:cNvSpPr txBox="1"/>
          <p:nvPr/>
        </p:nvSpPr>
        <p:spPr>
          <a:xfrm>
            <a:off x="2681288" y="506168"/>
            <a:ext cx="2360409" cy="197348"/>
          </a:xfrm>
          <a:prstGeom prst="rect">
            <a:avLst/>
          </a:prstGeom>
        </p:spPr>
        <p:txBody>
          <a:bodyPr lIns="0" tIns="0" rIns="0" bIns="0" rtlCol="0" anchor="t">
            <a:spAutoFit/>
          </a:bodyPr>
          <a:lstStyle/>
          <a:p>
            <a:pPr algn="l">
              <a:lnSpc>
                <a:spcPts val="1330"/>
              </a:lnSpc>
            </a:pPr>
            <a:r>
              <a:rPr lang="en-US" sz="1000">
                <a:solidFill>
                  <a:srgbClr val="2B0AFF"/>
                </a:solidFill>
                <a:latin typeface="Inter" panose="02000503000000020004"/>
                <a:ea typeface="Inter" panose="02000503000000020004"/>
                <a:cs typeface="Inter" panose="02000503000000020004"/>
                <a:sym typeface="Inter" panose="02000503000000020004"/>
              </a:rPr>
              <a:t>PROPOSED SOLUTION</a:t>
            </a:r>
            <a:endParaRPr lang="en-US" sz="1000">
              <a:solidFill>
                <a:srgbClr val="2B0AFF"/>
              </a:solidFill>
              <a:latin typeface="Inter" panose="02000503000000020004"/>
              <a:ea typeface="Inter" panose="02000503000000020004"/>
              <a:cs typeface="Inter" panose="02000503000000020004"/>
              <a:sym typeface="Inter" panose="02000503000000020004"/>
            </a:endParaRPr>
          </a:p>
        </p:txBody>
      </p:sp>
      <p:sp>
        <p:nvSpPr>
          <p:cNvPr id="9" name="TextBox 9"/>
          <p:cNvSpPr txBox="1"/>
          <p:nvPr/>
        </p:nvSpPr>
        <p:spPr>
          <a:xfrm>
            <a:off x="2571750" y="798319"/>
            <a:ext cx="7248077" cy="530419"/>
          </a:xfrm>
          <a:prstGeom prst="rect">
            <a:avLst/>
          </a:prstGeom>
        </p:spPr>
        <p:txBody>
          <a:bodyPr lIns="0" tIns="0" rIns="0" bIns="0" rtlCol="0" anchor="t">
            <a:spAutoFit/>
          </a:bodyPr>
          <a:lstStyle/>
          <a:p>
            <a:pPr algn="l">
              <a:lnSpc>
                <a:spcPts val="3995"/>
              </a:lnSpc>
            </a:pPr>
            <a:r>
              <a:rPr lang="en-US" sz="3200" b="1">
                <a:solidFill>
                  <a:srgbClr val="FFFFFF"/>
                </a:solidFill>
                <a:latin typeface="Inter Bold" panose="02000503000000020004"/>
                <a:ea typeface="Inter Bold" panose="02000503000000020004"/>
                <a:cs typeface="Inter Bold" panose="02000503000000020004"/>
                <a:sym typeface="Inter Bold" panose="02000503000000020004"/>
              </a:rPr>
              <a:t>A Data-Driven Web Application</a:t>
            </a:r>
            <a:endParaRPr lang="en-US" sz="3200" b="1">
              <a:solidFill>
                <a:srgbClr val="FFFFFF"/>
              </a:solidFill>
              <a:latin typeface="Inter Bold" panose="02000503000000020004"/>
              <a:ea typeface="Inter Bold" panose="02000503000000020004"/>
              <a:cs typeface="Inter Bold" panose="02000503000000020004"/>
              <a:sym typeface="Inter Bold" panose="02000503000000020004"/>
            </a:endParaRPr>
          </a:p>
        </p:txBody>
      </p:sp>
      <p:sp>
        <p:nvSpPr>
          <p:cNvPr id="10" name="TextBox 10"/>
          <p:cNvSpPr txBox="1"/>
          <p:nvPr/>
        </p:nvSpPr>
        <p:spPr>
          <a:xfrm>
            <a:off x="2571750" y="1477566"/>
            <a:ext cx="13144500" cy="464944"/>
          </a:xfrm>
          <a:prstGeom prst="rect">
            <a:avLst/>
          </a:prstGeom>
        </p:spPr>
        <p:txBody>
          <a:bodyPr lIns="0" tIns="0" rIns="0" bIns="0" rtlCol="0" anchor="t">
            <a:spAutoFit/>
          </a:bodyPr>
          <a:lstStyle/>
          <a:p>
            <a:pPr algn="l">
              <a:lnSpc>
                <a:spcPts val="1730"/>
              </a:lnSpc>
            </a:pPr>
            <a:r>
              <a:rPr lang="en-US" sz="1300">
                <a:solidFill>
                  <a:srgbClr val="E5E0DF"/>
                </a:solidFill>
                <a:latin typeface="Inter" panose="02000503000000020004"/>
                <a:ea typeface="Inter" panose="02000503000000020004"/>
                <a:cs typeface="Inter" panose="02000503000000020004"/>
                <a:sym typeface="Inter" panose="02000503000000020004"/>
              </a:rPr>
              <a:t>We propose a web application that enables organizations to </a:t>
            </a:r>
            <a:r>
              <a:rPr lang="en-US" sz="1300" b="1">
                <a:solidFill>
                  <a:srgbClr val="E5E0DF"/>
                </a:solidFill>
                <a:latin typeface="Inter Bold" panose="02000503000000020004"/>
                <a:ea typeface="Inter Bold" panose="02000503000000020004"/>
                <a:cs typeface="Inter Bold" panose="02000503000000020004"/>
                <a:sym typeface="Inter Bold" panose="02000503000000020004"/>
              </a:rPr>
              <a:t>evaluate the impact of AI training investments</a:t>
            </a:r>
            <a:r>
              <a:rPr lang="en-US" sz="1300">
                <a:solidFill>
                  <a:srgbClr val="E5E0DF"/>
                </a:solidFill>
                <a:latin typeface="Inter" panose="02000503000000020004"/>
                <a:ea typeface="Inter" panose="02000503000000020004"/>
                <a:cs typeface="Inter" panose="02000503000000020004"/>
                <a:sym typeface="Inter" panose="02000503000000020004"/>
              </a:rPr>
              <a:t> on business outcomes through interactive analysis and statistical modeling.</a:t>
            </a:r>
            <a:endParaRPr lang="en-US" sz="1300">
              <a:solidFill>
                <a:srgbClr val="E5E0DF"/>
              </a:solidFill>
              <a:latin typeface="Inter" panose="02000503000000020004"/>
              <a:ea typeface="Inter" panose="02000503000000020004"/>
              <a:cs typeface="Inter" panose="02000503000000020004"/>
              <a:sym typeface="Inter" panose="02000503000000020004"/>
            </a:endParaRPr>
          </a:p>
        </p:txBody>
      </p:sp>
      <p:grpSp>
        <p:nvGrpSpPr>
          <p:cNvPr id="11" name="Group 11"/>
          <p:cNvGrpSpPr/>
          <p:nvPr/>
        </p:nvGrpSpPr>
        <p:grpSpPr>
          <a:xfrm rot="0">
            <a:off x="2618480" y="3136259"/>
            <a:ext cx="6608864" cy="3682756"/>
            <a:chOff x="0" y="0"/>
            <a:chExt cx="8811819" cy="4910341"/>
          </a:xfrm>
        </p:grpSpPr>
        <p:sp>
          <p:nvSpPr>
            <p:cNvPr id="12" name="Freeform 12"/>
            <p:cNvSpPr/>
            <p:nvPr/>
          </p:nvSpPr>
          <p:spPr>
            <a:xfrm>
              <a:off x="0" y="0"/>
              <a:ext cx="8811768" cy="4910366"/>
            </a:xfrm>
            <a:custGeom>
              <a:avLst/>
              <a:gdLst/>
              <a:ahLst/>
              <a:cxnLst/>
              <a:rect l="l" t="t" r="r" b="b"/>
              <a:pathLst>
                <a:path w="8811768" h="4910366">
                  <a:moveTo>
                    <a:pt x="0" y="84270"/>
                  </a:moveTo>
                  <a:cubicBezTo>
                    <a:pt x="0" y="37721"/>
                    <a:pt x="71628" y="0"/>
                    <a:pt x="160020" y="0"/>
                  </a:cubicBezTo>
                  <a:lnTo>
                    <a:pt x="8651748" y="0"/>
                  </a:lnTo>
                  <a:cubicBezTo>
                    <a:pt x="8740140" y="0"/>
                    <a:pt x="8811768" y="37721"/>
                    <a:pt x="8811768" y="84270"/>
                  </a:cubicBezTo>
                  <a:lnTo>
                    <a:pt x="8811768" y="4826084"/>
                  </a:lnTo>
                  <a:cubicBezTo>
                    <a:pt x="8811768" y="4872633"/>
                    <a:pt x="8740140" y="4910366"/>
                    <a:pt x="8651748" y="4910366"/>
                  </a:cubicBezTo>
                  <a:lnTo>
                    <a:pt x="160020" y="4910366"/>
                  </a:lnTo>
                  <a:cubicBezTo>
                    <a:pt x="71628" y="4910366"/>
                    <a:pt x="0" y="4872633"/>
                    <a:pt x="0" y="4826084"/>
                  </a:cubicBezTo>
                  <a:close/>
                </a:path>
              </a:pathLst>
            </a:custGeom>
            <a:solidFill>
              <a:srgbClr val="2B0AFF"/>
            </a:solidFill>
          </p:spPr>
        </p:sp>
      </p:grpSp>
      <p:sp>
        <p:nvSpPr>
          <p:cNvPr id="13" name="TextBox 13"/>
          <p:cNvSpPr txBox="1"/>
          <p:nvPr/>
        </p:nvSpPr>
        <p:spPr>
          <a:xfrm>
            <a:off x="2618480" y="2170805"/>
            <a:ext cx="3332855" cy="269977"/>
          </a:xfrm>
          <a:prstGeom prst="rect">
            <a:avLst/>
          </a:prstGeom>
        </p:spPr>
        <p:txBody>
          <a:bodyPr lIns="0" tIns="0" rIns="0" bIns="0" rtlCol="0" anchor="t">
            <a:spAutoFit/>
          </a:bodyPr>
          <a:lstStyle/>
          <a:p>
            <a:pPr algn="l">
              <a:lnSpc>
                <a:spcPts val="1995"/>
              </a:lnSpc>
            </a:pPr>
            <a:r>
              <a:rPr lang="en-US" sz="1600" b="1">
                <a:solidFill>
                  <a:srgbClr val="FFFFFF"/>
                </a:solidFill>
                <a:latin typeface="Inter Bold" panose="02000503000000020004"/>
                <a:ea typeface="Inter Bold" panose="02000503000000020004"/>
                <a:cs typeface="Inter Bold" panose="02000503000000020004"/>
                <a:sym typeface="Inter Bold" panose="02000503000000020004"/>
              </a:rPr>
              <a:t>Application Capabilities</a:t>
            </a:r>
            <a:endParaRPr lang="en-US" sz="1600" b="1">
              <a:solidFill>
                <a:srgbClr val="FFFFFF"/>
              </a:solidFill>
              <a:latin typeface="Inter Bold" panose="02000503000000020004"/>
              <a:ea typeface="Inter Bold" panose="02000503000000020004"/>
              <a:cs typeface="Inter Bold" panose="02000503000000020004"/>
              <a:sym typeface="Inter Bold" panose="02000503000000020004"/>
            </a:endParaRPr>
          </a:p>
        </p:txBody>
      </p:sp>
      <p:sp>
        <p:nvSpPr>
          <p:cNvPr id="14" name="TextBox 14"/>
          <p:cNvSpPr txBox="1"/>
          <p:nvPr/>
        </p:nvSpPr>
        <p:spPr>
          <a:xfrm>
            <a:off x="2759421" y="3578496"/>
            <a:ext cx="6326981" cy="1565004"/>
          </a:xfrm>
          <a:prstGeom prst="rect">
            <a:avLst/>
          </a:prstGeom>
        </p:spPr>
        <p:txBody>
          <a:bodyPr lIns="0" tIns="0" rIns="0" bIns="0" rtlCol="0" anchor="t">
            <a:spAutoFit/>
          </a:bodyPr>
          <a:lstStyle/>
          <a:p>
            <a:pPr marL="316230" lvl="1" indent="-158115" algn="l">
              <a:lnSpc>
                <a:spcPts val="1745"/>
              </a:lnSpc>
              <a:buFont typeface="Arial" panose="020B0604020202020204"/>
              <a:buChar char="•"/>
            </a:pPr>
            <a:r>
              <a:rPr lang="en-US" sz="1310">
                <a:solidFill>
                  <a:srgbClr val="E5E0DF"/>
                </a:solidFill>
                <a:latin typeface="Inter" panose="02000503000000020004"/>
                <a:ea typeface="Inter" panose="02000503000000020004"/>
                <a:cs typeface="Inter" panose="02000503000000020004"/>
                <a:sym typeface="Inter" panose="02000503000000020004"/>
              </a:rPr>
              <a:t>Select Industry, Country, and Business Metric</a:t>
            </a:r>
            <a:endParaRPr lang="en-US" sz="1310">
              <a:solidFill>
                <a:srgbClr val="E5E0DF"/>
              </a:solidFill>
              <a:latin typeface="Inter" panose="02000503000000020004"/>
              <a:ea typeface="Inter" panose="02000503000000020004"/>
              <a:cs typeface="Inter" panose="02000503000000020004"/>
              <a:sym typeface="Inter" panose="02000503000000020004"/>
            </a:endParaRPr>
          </a:p>
          <a:p>
            <a:pPr marL="316230" lvl="1" indent="-158115" algn="l">
              <a:lnSpc>
                <a:spcPts val="1745"/>
              </a:lnSpc>
              <a:buFont typeface="Arial" panose="020B0604020202020204"/>
              <a:buChar char="•"/>
            </a:pPr>
            <a:r>
              <a:rPr lang="en-US" sz="1310">
                <a:solidFill>
                  <a:srgbClr val="E5E0DF"/>
                </a:solidFill>
                <a:latin typeface="Inter" panose="02000503000000020004"/>
                <a:ea typeface="Inter" panose="02000503000000020004"/>
                <a:cs typeface="Inter" panose="02000503000000020004"/>
                <a:sym typeface="Inter" panose="02000503000000020004"/>
              </a:rPr>
              <a:t>Analyze corporate AI adoption datasets</a:t>
            </a:r>
            <a:endParaRPr lang="en-US" sz="1310">
              <a:solidFill>
                <a:srgbClr val="E5E0DF"/>
              </a:solidFill>
              <a:latin typeface="Inter" panose="02000503000000020004"/>
              <a:ea typeface="Inter" panose="02000503000000020004"/>
              <a:cs typeface="Inter" panose="02000503000000020004"/>
              <a:sym typeface="Inter" panose="02000503000000020004"/>
            </a:endParaRPr>
          </a:p>
          <a:p>
            <a:pPr marL="316230" lvl="1" indent="-158115" algn="l">
              <a:lnSpc>
                <a:spcPts val="1745"/>
              </a:lnSpc>
              <a:buFont typeface="Arial" panose="020B0604020202020204"/>
              <a:buChar char="•"/>
            </a:pPr>
            <a:r>
              <a:rPr lang="en-US" sz="1310">
                <a:solidFill>
                  <a:srgbClr val="E5E0DF"/>
                </a:solidFill>
                <a:latin typeface="Inter" panose="02000503000000020004"/>
                <a:ea typeface="Inter" panose="02000503000000020004"/>
                <a:cs typeface="Inter" panose="02000503000000020004"/>
                <a:sym typeface="Inter" panose="02000503000000020004"/>
              </a:rPr>
              <a:t>Compare training hours with performance data</a:t>
            </a:r>
            <a:endParaRPr lang="en-US" sz="1310">
              <a:solidFill>
                <a:srgbClr val="E5E0DF"/>
              </a:solidFill>
              <a:latin typeface="Inter" panose="02000503000000020004"/>
              <a:ea typeface="Inter" panose="02000503000000020004"/>
              <a:cs typeface="Inter" panose="02000503000000020004"/>
              <a:sym typeface="Inter" panose="02000503000000020004"/>
            </a:endParaRPr>
          </a:p>
          <a:p>
            <a:pPr marL="316230" lvl="1" indent="-158115" algn="l">
              <a:lnSpc>
                <a:spcPts val="1745"/>
              </a:lnSpc>
              <a:buFont typeface="Arial" panose="020B0604020202020204"/>
              <a:buChar char="•"/>
            </a:pPr>
            <a:r>
              <a:rPr lang="en-US" sz="1310">
                <a:solidFill>
                  <a:srgbClr val="E5E0DF"/>
                </a:solidFill>
                <a:latin typeface="Inter" panose="02000503000000020004"/>
                <a:ea typeface="Inter" panose="02000503000000020004"/>
                <a:cs typeface="Inter" panose="02000503000000020004"/>
                <a:sym typeface="Inter" panose="02000503000000020004"/>
              </a:rPr>
              <a:t>Visualize trends through interactive charts</a:t>
            </a:r>
            <a:endParaRPr lang="en-US" sz="1310">
              <a:solidFill>
                <a:srgbClr val="E5E0DF"/>
              </a:solidFill>
              <a:latin typeface="Inter" panose="02000503000000020004"/>
              <a:ea typeface="Inter" panose="02000503000000020004"/>
              <a:cs typeface="Inter" panose="02000503000000020004"/>
              <a:sym typeface="Inter" panose="02000503000000020004"/>
            </a:endParaRPr>
          </a:p>
          <a:p>
            <a:pPr marL="316230" lvl="1" indent="-158115" algn="l">
              <a:lnSpc>
                <a:spcPts val="1745"/>
              </a:lnSpc>
              <a:buFont typeface="Arial" panose="020B0604020202020204"/>
              <a:buChar char="•"/>
            </a:pPr>
            <a:r>
              <a:rPr lang="en-US" sz="1310">
                <a:solidFill>
                  <a:srgbClr val="E5E0DF"/>
                </a:solidFill>
                <a:latin typeface="Inter" panose="02000503000000020004"/>
                <a:ea typeface="Inter" panose="02000503000000020004"/>
                <a:cs typeface="Inter" panose="02000503000000020004"/>
                <a:sym typeface="Inter" panose="02000503000000020004"/>
              </a:rPr>
              <a:t>Calculate correlation scores via statistical analysis</a:t>
            </a:r>
            <a:endParaRPr lang="en-US" sz="1310">
              <a:solidFill>
                <a:srgbClr val="E5E0DF"/>
              </a:solidFill>
              <a:latin typeface="Inter" panose="02000503000000020004"/>
              <a:ea typeface="Inter" panose="02000503000000020004"/>
              <a:cs typeface="Inter" panose="02000503000000020004"/>
              <a:sym typeface="Inter" panose="02000503000000020004"/>
            </a:endParaRPr>
          </a:p>
          <a:p>
            <a:pPr marL="316230" lvl="1" indent="-158115" algn="l">
              <a:lnSpc>
                <a:spcPts val="1745"/>
              </a:lnSpc>
              <a:buFont typeface="Arial" panose="020B0604020202020204"/>
              <a:buChar char="•"/>
            </a:pPr>
            <a:r>
              <a:rPr lang="en-US" sz="1310">
                <a:solidFill>
                  <a:srgbClr val="E5E0DF"/>
                </a:solidFill>
                <a:latin typeface="Inter" panose="02000503000000020004"/>
                <a:ea typeface="Inter" panose="02000503000000020004"/>
                <a:cs typeface="Inter" panose="02000503000000020004"/>
                <a:sym typeface="Inter" panose="02000503000000020004"/>
              </a:rPr>
              <a:t>Generate actionable business insights</a:t>
            </a:r>
            <a:endParaRPr lang="en-US" sz="1310">
              <a:solidFill>
                <a:srgbClr val="E5E0DF"/>
              </a:solidFill>
              <a:latin typeface="Inter" panose="02000503000000020004"/>
              <a:ea typeface="Inter" panose="02000503000000020004"/>
              <a:cs typeface="Inter" panose="02000503000000020004"/>
              <a:sym typeface="Inter" panose="02000503000000020004"/>
            </a:endParaRPr>
          </a:p>
        </p:txBody>
      </p:sp>
      <p:sp>
        <p:nvSpPr>
          <p:cNvPr id="15" name="TextBox 15"/>
          <p:cNvSpPr txBox="1"/>
          <p:nvPr/>
        </p:nvSpPr>
        <p:spPr>
          <a:xfrm>
            <a:off x="9356827" y="2170805"/>
            <a:ext cx="2997994" cy="269977"/>
          </a:xfrm>
          <a:prstGeom prst="rect">
            <a:avLst/>
          </a:prstGeom>
        </p:spPr>
        <p:txBody>
          <a:bodyPr lIns="0" tIns="0" rIns="0" bIns="0" rtlCol="0" anchor="t">
            <a:spAutoFit/>
          </a:bodyPr>
          <a:lstStyle/>
          <a:p>
            <a:pPr algn="l">
              <a:lnSpc>
                <a:spcPts val="1995"/>
              </a:lnSpc>
            </a:pPr>
            <a:r>
              <a:rPr lang="en-US" sz="1600" b="1">
                <a:solidFill>
                  <a:srgbClr val="FFFFFF"/>
                </a:solidFill>
                <a:latin typeface="Inter Bold" panose="02000503000000020004"/>
                <a:ea typeface="Inter Bold" panose="02000503000000020004"/>
                <a:cs typeface="Inter Bold" panose="02000503000000020004"/>
                <a:sym typeface="Inter Bold" panose="02000503000000020004"/>
              </a:rPr>
              <a:t>Processing Pipeline</a:t>
            </a:r>
            <a:endParaRPr lang="en-US" sz="1600" b="1">
              <a:solidFill>
                <a:srgbClr val="FFFFFF"/>
              </a:solidFill>
              <a:latin typeface="Inter Bold" panose="02000503000000020004"/>
              <a:ea typeface="Inter Bold" panose="02000503000000020004"/>
              <a:cs typeface="Inter Bold" panose="02000503000000020004"/>
              <a:sym typeface="Inter Bold" panose="02000503000000020004"/>
            </a:endParaRPr>
          </a:p>
        </p:txBody>
      </p:sp>
      <p:grpSp>
        <p:nvGrpSpPr>
          <p:cNvPr id="16" name="Group 16"/>
          <p:cNvGrpSpPr/>
          <p:nvPr/>
        </p:nvGrpSpPr>
        <p:grpSpPr>
          <a:xfrm rot="0">
            <a:off x="9356827" y="2566692"/>
            <a:ext cx="6368948" cy="6368948"/>
            <a:chOff x="0" y="0"/>
            <a:chExt cx="8491931" cy="8491931"/>
          </a:xfrm>
        </p:grpSpPr>
        <p:sp>
          <p:nvSpPr>
            <p:cNvPr id="17" name="Freeform 17" descr="preencoded.png"/>
            <p:cNvSpPr/>
            <p:nvPr/>
          </p:nvSpPr>
          <p:spPr>
            <a:xfrm>
              <a:off x="0" y="0"/>
              <a:ext cx="8491982" cy="8491982"/>
            </a:xfrm>
            <a:custGeom>
              <a:avLst/>
              <a:gdLst/>
              <a:ahLst/>
              <a:cxnLst/>
              <a:rect l="l" t="t" r="r" b="b"/>
              <a:pathLst>
                <a:path w="8491982" h="8491982">
                  <a:moveTo>
                    <a:pt x="0" y="0"/>
                  </a:moveTo>
                  <a:lnTo>
                    <a:pt x="8491982" y="0"/>
                  </a:lnTo>
                  <a:lnTo>
                    <a:pt x="8491982" y="8491982"/>
                  </a:lnTo>
                  <a:lnTo>
                    <a:pt x="0" y="8491982"/>
                  </a:lnTo>
                  <a:lnTo>
                    <a:pt x="0" y="0"/>
                  </a:lnTo>
                  <a:close/>
                </a:path>
              </a:pathLst>
            </a:custGeom>
            <a:blipFill>
              <a:blip r:embed="rId2"/>
              <a:stretch>
                <a:fillRect/>
              </a:stretch>
            </a:blipFill>
          </p:spPr>
        </p:sp>
      </p:grpSp>
      <p:grpSp>
        <p:nvGrpSpPr>
          <p:cNvPr id="18" name="Group 18"/>
          <p:cNvGrpSpPr/>
          <p:nvPr/>
        </p:nvGrpSpPr>
        <p:grpSpPr>
          <a:xfrm rot="0">
            <a:off x="2571750" y="9187463"/>
            <a:ext cx="13144500" cy="507806"/>
            <a:chOff x="0" y="0"/>
            <a:chExt cx="17526000" cy="677075"/>
          </a:xfrm>
        </p:grpSpPr>
        <p:sp>
          <p:nvSpPr>
            <p:cNvPr id="19" name="Freeform 19"/>
            <p:cNvSpPr/>
            <p:nvPr/>
          </p:nvSpPr>
          <p:spPr>
            <a:xfrm>
              <a:off x="0" y="0"/>
              <a:ext cx="17526000" cy="677037"/>
            </a:xfrm>
            <a:custGeom>
              <a:avLst/>
              <a:gdLst/>
              <a:ahLst/>
              <a:cxnLst/>
              <a:rect l="l" t="t" r="r" b="b"/>
              <a:pathLst>
                <a:path w="17526000" h="677037">
                  <a:moveTo>
                    <a:pt x="0" y="93345"/>
                  </a:moveTo>
                  <a:cubicBezTo>
                    <a:pt x="0" y="41783"/>
                    <a:pt x="41783" y="0"/>
                    <a:pt x="93345" y="0"/>
                  </a:cubicBezTo>
                  <a:lnTo>
                    <a:pt x="17432655" y="0"/>
                  </a:lnTo>
                  <a:cubicBezTo>
                    <a:pt x="17484218" y="0"/>
                    <a:pt x="17526000" y="41783"/>
                    <a:pt x="17526000" y="93345"/>
                  </a:cubicBezTo>
                  <a:lnTo>
                    <a:pt x="17526000" y="583692"/>
                  </a:lnTo>
                  <a:cubicBezTo>
                    <a:pt x="17526000" y="635254"/>
                    <a:pt x="17484218" y="677037"/>
                    <a:pt x="17432655" y="677037"/>
                  </a:cubicBezTo>
                  <a:lnTo>
                    <a:pt x="93345" y="677037"/>
                  </a:lnTo>
                  <a:cubicBezTo>
                    <a:pt x="41783" y="677037"/>
                    <a:pt x="0" y="635254"/>
                    <a:pt x="0" y="583692"/>
                  </a:cubicBezTo>
                  <a:close/>
                </a:path>
              </a:pathLst>
            </a:custGeom>
            <a:solidFill>
              <a:srgbClr val="183A13"/>
            </a:solidFill>
          </p:spPr>
        </p:sp>
      </p:grpSp>
      <p:grpSp>
        <p:nvGrpSpPr>
          <p:cNvPr id="20" name="Group 20"/>
          <p:cNvGrpSpPr/>
          <p:nvPr/>
        </p:nvGrpSpPr>
        <p:grpSpPr>
          <a:xfrm rot="0">
            <a:off x="2738438" y="9402366"/>
            <a:ext cx="208359" cy="166688"/>
            <a:chOff x="0" y="0"/>
            <a:chExt cx="277812" cy="222250"/>
          </a:xfrm>
        </p:grpSpPr>
        <p:sp>
          <p:nvSpPr>
            <p:cNvPr id="21" name="Freeform 21" descr="preencoded.png"/>
            <p:cNvSpPr/>
            <p:nvPr/>
          </p:nvSpPr>
          <p:spPr>
            <a:xfrm>
              <a:off x="0" y="0"/>
              <a:ext cx="277876" cy="222250"/>
            </a:xfrm>
            <a:custGeom>
              <a:avLst/>
              <a:gdLst/>
              <a:ahLst/>
              <a:cxnLst/>
              <a:rect l="l" t="t" r="r" b="b"/>
              <a:pathLst>
                <a:path w="277876" h="222250">
                  <a:moveTo>
                    <a:pt x="0" y="0"/>
                  </a:moveTo>
                  <a:lnTo>
                    <a:pt x="277876" y="0"/>
                  </a:lnTo>
                  <a:lnTo>
                    <a:pt x="277876" y="222250"/>
                  </a:lnTo>
                  <a:lnTo>
                    <a:pt x="0" y="222250"/>
                  </a:lnTo>
                  <a:lnTo>
                    <a:pt x="0" y="0"/>
                  </a:lnTo>
                  <a:close/>
                </a:path>
              </a:pathLst>
            </a:custGeom>
            <a:blipFill>
              <a:blip r:embed="rId3"/>
              <a:stretch>
                <a:fillRect t="-1137" r="22" b="-1137"/>
              </a:stretch>
            </a:blipFill>
          </p:spPr>
        </p:sp>
      </p:grpSp>
      <p:sp>
        <p:nvSpPr>
          <p:cNvPr id="22" name="TextBox 22"/>
          <p:cNvSpPr txBox="1"/>
          <p:nvPr/>
        </p:nvSpPr>
        <p:spPr>
          <a:xfrm>
            <a:off x="3113484" y="9310840"/>
            <a:ext cx="13350478" cy="241992"/>
          </a:xfrm>
          <a:prstGeom prst="rect">
            <a:avLst/>
          </a:prstGeom>
        </p:spPr>
        <p:txBody>
          <a:bodyPr lIns="0" tIns="0" rIns="0" bIns="0" rtlCol="0" anchor="t">
            <a:spAutoFit/>
          </a:bodyPr>
          <a:lstStyle/>
          <a:p>
            <a:pPr algn="l">
              <a:lnSpc>
                <a:spcPts val="1730"/>
              </a:lnSpc>
            </a:pPr>
            <a:r>
              <a:rPr lang="en-US" sz="1300" b="1">
                <a:solidFill>
                  <a:srgbClr val="FFFFFF"/>
                </a:solidFill>
                <a:latin typeface="Inter Bold" panose="02000503000000020004"/>
                <a:ea typeface="Inter Bold" panose="02000503000000020004"/>
                <a:cs typeface="Inter Bold" panose="02000503000000020004"/>
                <a:sym typeface="Inter Bold" panose="02000503000000020004"/>
              </a:rPr>
              <a:t>Expected Outcome:</a:t>
            </a:r>
            <a:r>
              <a:rPr lang="en-US" sz="1300">
                <a:solidFill>
                  <a:srgbClr val="FFFFFF"/>
                </a:solidFill>
                <a:latin typeface="Inter" panose="02000503000000020004"/>
                <a:ea typeface="Inter" panose="02000503000000020004"/>
                <a:cs typeface="Inter" panose="02000503000000020004"/>
                <a:sym typeface="Inter" panose="02000503000000020004"/>
              </a:rPr>
              <a:t> Data-driven evidence to help organizations optimize AI training investments and improve overall business performance.</a:t>
            </a:r>
            <a:endParaRPr lang="en-US" sz="1300">
              <a:solidFill>
                <a:srgbClr val="FFFFFF"/>
              </a:solidFill>
              <a:latin typeface="Inter" panose="02000503000000020004"/>
              <a:ea typeface="Inter" panose="02000503000000020004"/>
              <a:cs typeface="Inter" panose="02000503000000020004"/>
              <a:sym typeface="Inter" panose="02000503000000020004"/>
            </a:endParaRPr>
          </a:p>
        </p:txBody>
      </p:sp>
      <p:sp>
        <p:nvSpPr>
          <p:cNvPr id="23" name="TextBox 23"/>
          <p:cNvSpPr txBox="1"/>
          <p:nvPr/>
        </p:nvSpPr>
        <p:spPr>
          <a:xfrm>
            <a:off x="720526" y="4834137"/>
            <a:ext cx="6608864" cy="239375"/>
          </a:xfrm>
          <a:prstGeom prst="rect">
            <a:avLst/>
          </a:prstGeom>
        </p:spPr>
        <p:txBody>
          <a:bodyPr lIns="0" tIns="0" rIns="0" bIns="0" rtlCol="0" anchor="t">
            <a:spAutoFit/>
          </a:bodyPr>
          <a:lstStyle/>
          <a:p>
            <a:pPr algn="ctr">
              <a:lnSpc>
                <a:spcPts val="2010"/>
              </a:lnSpc>
              <a:spcBef>
                <a:spcPct val="0"/>
              </a:spcBef>
            </a:pPr>
            <a:r>
              <a:rPr lang="en-US" sz="1310">
                <a:solidFill>
                  <a:srgbClr val="FFFFFF"/>
                </a:solidFill>
                <a:latin typeface="Inter" panose="02000503000000020004"/>
                <a:ea typeface="Inter" panose="02000503000000020004"/>
                <a:cs typeface="Inter" panose="02000503000000020004"/>
                <a:sym typeface="Inter" panose="02000503000000020004"/>
              </a:rPr>
              <a:t>we are using 2 dataset</a:t>
            </a:r>
            <a:endParaRPr lang="en-US" sz="1310">
              <a:solidFill>
                <a:srgbClr val="FFFFFF"/>
              </a:solidFill>
              <a:latin typeface="Inter" panose="02000503000000020004"/>
              <a:ea typeface="Inter" panose="02000503000000020004"/>
              <a:cs typeface="Inter" panose="02000503000000020004"/>
              <a:sym typeface="Inter" panose="020005030000000200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0">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C0C0C"/>
            </a:solidFill>
          </p:spPr>
        </p:sp>
      </p:grpSp>
      <p:grpSp>
        <p:nvGrpSpPr>
          <p:cNvPr id="4" name="Group 4"/>
          <p:cNvGrpSpPr/>
          <p:nvPr/>
        </p:nvGrpSpPr>
        <p:grpSpPr>
          <a:xfrm rot="0">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272525"/>
            </a:solidFill>
          </p:spPr>
        </p:sp>
      </p:grpSp>
      <p:grpSp>
        <p:nvGrpSpPr>
          <p:cNvPr id="6" name="Group 6"/>
          <p:cNvGrpSpPr/>
          <p:nvPr/>
        </p:nvGrpSpPr>
        <p:grpSpPr>
          <a:xfrm rot="0">
            <a:off x="3178369" y="548135"/>
            <a:ext cx="1092698" cy="274739"/>
            <a:chOff x="0" y="0"/>
            <a:chExt cx="1456931" cy="366319"/>
          </a:xfrm>
        </p:grpSpPr>
        <p:sp>
          <p:nvSpPr>
            <p:cNvPr id="7" name="Freeform 7"/>
            <p:cNvSpPr/>
            <p:nvPr/>
          </p:nvSpPr>
          <p:spPr>
            <a:xfrm>
              <a:off x="0" y="0"/>
              <a:ext cx="1456817" cy="366268"/>
            </a:xfrm>
            <a:custGeom>
              <a:avLst/>
              <a:gdLst/>
              <a:ahLst/>
              <a:cxnLst/>
              <a:rect l="l" t="t" r="r" b="b"/>
              <a:pathLst>
                <a:path w="1456817" h="366268">
                  <a:moveTo>
                    <a:pt x="0" y="70104"/>
                  </a:moveTo>
                  <a:cubicBezTo>
                    <a:pt x="0" y="31369"/>
                    <a:pt x="31369" y="0"/>
                    <a:pt x="70104" y="0"/>
                  </a:cubicBezTo>
                  <a:lnTo>
                    <a:pt x="1386713" y="0"/>
                  </a:lnTo>
                  <a:cubicBezTo>
                    <a:pt x="1425448" y="0"/>
                    <a:pt x="1456817" y="31369"/>
                    <a:pt x="1456817" y="70104"/>
                  </a:cubicBezTo>
                  <a:lnTo>
                    <a:pt x="1456817" y="296164"/>
                  </a:lnTo>
                  <a:cubicBezTo>
                    <a:pt x="1456817" y="334899"/>
                    <a:pt x="1425448" y="366268"/>
                    <a:pt x="1386713" y="366268"/>
                  </a:cubicBezTo>
                  <a:lnTo>
                    <a:pt x="70104" y="366268"/>
                  </a:lnTo>
                  <a:cubicBezTo>
                    <a:pt x="31369" y="366268"/>
                    <a:pt x="0" y="334899"/>
                    <a:pt x="0" y="296164"/>
                  </a:cubicBezTo>
                  <a:close/>
                </a:path>
              </a:pathLst>
            </a:custGeom>
            <a:blipFill>
              <a:blip r:embed="rId1">
                <a:alphaModFix amt="0"/>
              </a:blip>
              <a:stretch>
                <a:fillRect t="-27500" r="-7" b="-27514"/>
              </a:stretch>
            </a:blipFill>
            <a:ln w="9526" cap="sq">
              <a:solidFill>
                <a:srgbClr val="2B0AFF"/>
              </a:solidFill>
              <a:prstDash val="solid"/>
              <a:miter/>
            </a:ln>
          </p:spPr>
        </p:sp>
      </p:grpSp>
      <p:sp>
        <p:nvSpPr>
          <p:cNvPr id="8" name="TextBox 8"/>
          <p:cNvSpPr txBox="1"/>
          <p:nvPr/>
        </p:nvSpPr>
        <p:spPr>
          <a:xfrm>
            <a:off x="3283296" y="598141"/>
            <a:ext cx="1797244" cy="165202"/>
          </a:xfrm>
          <a:prstGeom prst="rect">
            <a:avLst/>
          </a:prstGeom>
        </p:spPr>
        <p:txBody>
          <a:bodyPr lIns="0" tIns="0" rIns="0" bIns="0" rtlCol="0" anchor="t">
            <a:spAutoFit/>
          </a:bodyPr>
          <a:lstStyle/>
          <a:p>
            <a:pPr algn="l">
              <a:lnSpc>
                <a:spcPts val="1155"/>
              </a:lnSpc>
            </a:pPr>
            <a:r>
              <a:rPr lang="en-US" sz="900">
                <a:solidFill>
                  <a:srgbClr val="2B0AFF"/>
                </a:solidFill>
                <a:latin typeface="Inter" panose="02000503000000020004"/>
                <a:ea typeface="Inter" panose="02000503000000020004"/>
                <a:cs typeface="Inter" panose="02000503000000020004"/>
                <a:sym typeface="Inter" panose="02000503000000020004"/>
              </a:rPr>
              <a:t>KEY FEATURES</a:t>
            </a:r>
            <a:endParaRPr lang="en-US" sz="900">
              <a:solidFill>
                <a:srgbClr val="2B0AFF"/>
              </a:solidFill>
              <a:latin typeface="Inter" panose="02000503000000020004"/>
              <a:ea typeface="Inter" panose="02000503000000020004"/>
              <a:cs typeface="Inter" panose="02000503000000020004"/>
              <a:sym typeface="Inter" panose="02000503000000020004"/>
            </a:endParaRPr>
          </a:p>
        </p:txBody>
      </p:sp>
      <p:sp>
        <p:nvSpPr>
          <p:cNvPr id="9" name="TextBox 9"/>
          <p:cNvSpPr txBox="1"/>
          <p:nvPr/>
        </p:nvSpPr>
        <p:spPr>
          <a:xfrm>
            <a:off x="3183141" y="835819"/>
            <a:ext cx="6886727" cy="491576"/>
          </a:xfrm>
          <a:prstGeom prst="rect">
            <a:avLst/>
          </a:prstGeom>
        </p:spPr>
        <p:txBody>
          <a:bodyPr lIns="0" tIns="0" rIns="0" bIns="0" rtlCol="0" anchor="t">
            <a:spAutoFit/>
          </a:bodyPr>
          <a:lstStyle/>
          <a:p>
            <a:pPr algn="l">
              <a:lnSpc>
                <a:spcPts val="3620"/>
              </a:lnSpc>
            </a:pPr>
            <a:r>
              <a:rPr lang="en-US" sz="2900" b="1">
                <a:solidFill>
                  <a:srgbClr val="FFFFFF"/>
                </a:solidFill>
                <a:latin typeface="Inter Bold" panose="02000503000000020004"/>
                <a:ea typeface="Inter Bold" panose="02000503000000020004"/>
                <a:cs typeface="Inter Bold" panose="02000503000000020004"/>
                <a:sym typeface="Inter Bold" panose="02000503000000020004"/>
              </a:rPr>
              <a:t>Core Capabilities of the Platform</a:t>
            </a:r>
            <a:endParaRPr lang="en-US" sz="2900" b="1">
              <a:solidFill>
                <a:srgbClr val="FFFFFF"/>
              </a:solidFill>
              <a:latin typeface="Inter Bold" panose="02000503000000020004"/>
              <a:ea typeface="Inter Bold" panose="02000503000000020004"/>
              <a:cs typeface="Inter Bold" panose="02000503000000020004"/>
              <a:sym typeface="Inter Bold" panose="02000503000000020004"/>
            </a:endParaRPr>
          </a:p>
        </p:txBody>
      </p:sp>
      <p:sp>
        <p:nvSpPr>
          <p:cNvPr id="10" name="TextBox 10"/>
          <p:cNvSpPr txBox="1"/>
          <p:nvPr/>
        </p:nvSpPr>
        <p:spPr>
          <a:xfrm>
            <a:off x="3183141" y="1446457"/>
            <a:ext cx="12836128" cy="213722"/>
          </a:xfrm>
          <a:prstGeom prst="rect">
            <a:avLst/>
          </a:prstGeom>
        </p:spPr>
        <p:txBody>
          <a:bodyPr lIns="0" tIns="0" rIns="0" bIns="0" rtlCol="0" anchor="t">
            <a:spAutoFit/>
          </a:bodyPr>
          <a:lstStyle/>
          <a:p>
            <a:pPr algn="l">
              <a:lnSpc>
                <a:spcPts val="1410"/>
              </a:lnSpc>
            </a:pPr>
            <a:r>
              <a:rPr lang="en-US" sz="1100">
                <a:solidFill>
                  <a:srgbClr val="E5E0DF"/>
                </a:solidFill>
                <a:latin typeface="Inter" panose="02000503000000020004"/>
                <a:ea typeface="Inter" panose="02000503000000020004"/>
                <a:cs typeface="Inter" panose="02000503000000020004"/>
                <a:sym typeface="Inter" panose="02000503000000020004"/>
              </a:rPr>
              <a:t>Six core features enable organizations to evaluate AI training impact with precision and clarity.</a:t>
            </a:r>
            <a:endParaRPr lang="en-US" sz="1100">
              <a:solidFill>
                <a:srgbClr val="E5E0DF"/>
              </a:solidFill>
              <a:latin typeface="Inter" panose="02000503000000020004"/>
              <a:ea typeface="Inter" panose="02000503000000020004"/>
              <a:cs typeface="Inter" panose="02000503000000020004"/>
              <a:sym typeface="Inter" panose="02000503000000020004"/>
            </a:endParaRPr>
          </a:p>
        </p:txBody>
      </p:sp>
      <p:sp>
        <p:nvSpPr>
          <p:cNvPr id="11" name="Freeform 11" descr="preencoded.png"/>
          <p:cNvSpPr/>
          <p:nvPr/>
        </p:nvSpPr>
        <p:spPr>
          <a:xfrm>
            <a:off x="3183141" y="1763763"/>
            <a:ext cx="302266" cy="302266"/>
          </a:xfrm>
          <a:custGeom>
            <a:avLst/>
            <a:gdLst/>
            <a:ahLst/>
            <a:cxnLst/>
            <a:rect l="l" t="t" r="r" b="b"/>
            <a:pathLst>
              <a:path w="302266" h="302266">
                <a:moveTo>
                  <a:pt x="0" y="0"/>
                </a:moveTo>
                <a:lnTo>
                  <a:pt x="302266" y="0"/>
                </a:lnTo>
                <a:lnTo>
                  <a:pt x="302266" y="302267"/>
                </a:lnTo>
                <a:lnTo>
                  <a:pt x="0" y="302267"/>
                </a:lnTo>
                <a:lnTo>
                  <a:pt x="0" y="0"/>
                </a:lnTo>
                <a:close/>
              </a:path>
            </a:pathLst>
          </a:custGeom>
          <a:blipFill>
            <a:blip r:embed="rId2">
              <a:extLst>
                <a:ext uri="{96DAC541-7B7A-43D3-8B79-37D633B846F1}">
                  <asvg:svgBlip xmlns:asvg="http://schemas.microsoft.com/office/drawing/2016/SVG/main" r:embed="rId3"/>
                </a:ext>
              </a:extLst>
            </a:blip>
            <a:stretch>
              <a:fillRect t="-7811" b="-7814"/>
            </a:stretch>
          </a:blipFill>
        </p:spPr>
      </p:sp>
      <p:sp>
        <p:nvSpPr>
          <p:cNvPr id="12" name="TextBox 12"/>
          <p:cNvSpPr txBox="1"/>
          <p:nvPr/>
        </p:nvSpPr>
        <p:spPr>
          <a:xfrm>
            <a:off x="3183141" y="2171548"/>
            <a:ext cx="2129133" cy="245716"/>
          </a:xfrm>
          <a:prstGeom prst="rect">
            <a:avLst/>
          </a:prstGeom>
        </p:spPr>
        <p:txBody>
          <a:bodyPr lIns="0" tIns="0" rIns="0" bIns="0" rtlCol="0" anchor="t">
            <a:spAutoFit/>
          </a:bodyPr>
          <a:lstStyle/>
          <a:p>
            <a:pPr algn="l">
              <a:lnSpc>
                <a:spcPts val="1745"/>
              </a:lnSpc>
            </a:pPr>
            <a:r>
              <a:rPr lang="en-US" sz="1400" b="1">
                <a:solidFill>
                  <a:srgbClr val="E5E0DF"/>
                </a:solidFill>
                <a:latin typeface="Inter Bold" panose="02000503000000020004"/>
                <a:ea typeface="Inter Bold" panose="02000503000000020004"/>
                <a:cs typeface="Inter Bold" panose="02000503000000020004"/>
                <a:sym typeface="Inter Bold" panose="02000503000000020004"/>
              </a:rPr>
              <a:t>Industry-wise Analysis</a:t>
            </a:r>
            <a:endParaRPr lang="en-US" sz="1400" b="1">
              <a:solidFill>
                <a:srgbClr val="E5E0DF"/>
              </a:solidFill>
              <a:latin typeface="Inter Bold" panose="02000503000000020004"/>
              <a:ea typeface="Inter Bold" panose="02000503000000020004"/>
              <a:cs typeface="Inter Bold" panose="02000503000000020004"/>
              <a:sym typeface="Inter Bold" panose="02000503000000020004"/>
            </a:endParaRPr>
          </a:p>
        </p:txBody>
      </p:sp>
      <p:sp>
        <p:nvSpPr>
          <p:cNvPr id="13" name="TextBox 13"/>
          <p:cNvSpPr txBox="1"/>
          <p:nvPr/>
        </p:nvSpPr>
        <p:spPr>
          <a:xfrm>
            <a:off x="3183141" y="2453430"/>
            <a:ext cx="5903271" cy="213722"/>
          </a:xfrm>
          <a:prstGeom prst="rect">
            <a:avLst/>
          </a:prstGeom>
        </p:spPr>
        <p:txBody>
          <a:bodyPr lIns="0" tIns="0" rIns="0" bIns="0" rtlCol="0" anchor="t">
            <a:spAutoFit/>
          </a:bodyPr>
          <a:lstStyle/>
          <a:p>
            <a:pPr algn="l">
              <a:lnSpc>
                <a:spcPts val="1410"/>
              </a:lnSpc>
            </a:pPr>
            <a:r>
              <a:rPr lang="en-US" sz="1100">
                <a:solidFill>
                  <a:srgbClr val="E5E0DF"/>
                </a:solidFill>
                <a:latin typeface="Inter" panose="02000503000000020004"/>
                <a:ea typeface="Inter" panose="02000503000000020004"/>
                <a:cs typeface="Inter" panose="02000503000000020004"/>
                <a:sym typeface="Inter" panose="02000503000000020004"/>
              </a:rPr>
              <a:t>Filter datasets by sector to uncover industry-specific training patterns.</a:t>
            </a:r>
            <a:endParaRPr lang="en-US" sz="1100">
              <a:solidFill>
                <a:srgbClr val="E5E0DF"/>
              </a:solidFill>
              <a:latin typeface="Inter" panose="02000503000000020004"/>
              <a:ea typeface="Inter" panose="02000503000000020004"/>
              <a:cs typeface="Inter" panose="02000503000000020004"/>
              <a:sym typeface="Inter" panose="02000503000000020004"/>
            </a:endParaRPr>
          </a:p>
        </p:txBody>
      </p:sp>
      <p:sp>
        <p:nvSpPr>
          <p:cNvPr id="14" name="Freeform 14" descr="preencoded.png"/>
          <p:cNvSpPr/>
          <p:nvPr/>
        </p:nvSpPr>
        <p:spPr>
          <a:xfrm>
            <a:off x="9201445" y="1763763"/>
            <a:ext cx="302266" cy="302266"/>
          </a:xfrm>
          <a:custGeom>
            <a:avLst/>
            <a:gdLst/>
            <a:ahLst/>
            <a:cxnLst/>
            <a:rect l="l" t="t" r="r" b="b"/>
            <a:pathLst>
              <a:path w="302266" h="302266">
                <a:moveTo>
                  <a:pt x="0" y="0"/>
                </a:moveTo>
                <a:lnTo>
                  <a:pt x="302267" y="0"/>
                </a:lnTo>
                <a:lnTo>
                  <a:pt x="302267" y="302267"/>
                </a:lnTo>
                <a:lnTo>
                  <a:pt x="0" y="30226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5" name="TextBox 15"/>
          <p:cNvSpPr txBox="1"/>
          <p:nvPr/>
        </p:nvSpPr>
        <p:spPr>
          <a:xfrm>
            <a:off x="9201445" y="2171548"/>
            <a:ext cx="2106959" cy="245716"/>
          </a:xfrm>
          <a:prstGeom prst="rect">
            <a:avLst/>
          </a:prstGeom>
        </p:spPr>
        <p:txBody>
          <a:bodyPr lIns="0" tIns="0" rIns="0" bIns="0" rtlCol="0" anchor="t">
            <a:spAutoFit/>
          </a:bodyPr>
          <a:lstStyle/>
          <a:p>
            <a:pPr algn="l">
              <a:lnSpc>
                <a:spcPts val="1745"/>
              </a:lnSpc>
            </a:pPr>
            <a:r>
              <a:rPr lang="en-US" sz="1400" b="1">
                <a:solidFill>
                  <a:srgbClr val="E5E0DF"/>
                </a:solidFill>
                <a:latin typeface="Inter Bold" panose="02000503000000020004"/>
                <a:ea typeface="Inter Bold" panose="02000503000000020004"/>
                <a:cs typeface="Inter Bold" panose="02000503000000020004"/>
                <a:sym typeface="Inter Bold" panose="02000503000000020004"/>
              </a:rPr>
              <a:t>Country-wise Analysis</a:t>
            </a:r>
            <a:endParaRPr lang="en-US" sz="1400" b="1">
              <a:solidFill>
                <a:srgbClr val="E5E0DF"/>
              </a:solidFill>
              <a:latin typeface="Inter Bold" panose="02000503000000020004"/>
              <a:ea typeface="Inter Bold" panose="02000503000000020004"/>
              <a:cs typeface="Inter Bold" panose="02000503000000020004"/>
              <a:sym typeface="Inter Bold" panose="02000503000000020004"/>
            </a:endParaRPr>
          </a:p>
        </p:txBody>
      </p:sp>
      <p:sp>
        <p:nvSpPr>
          <p:cNvPr id="16" name="TextBox 16"/>
          <p:cNvSpPr txBox="1"/>
          <p:nvPr/>
        </p:nvSpPr>
        <p:spPr>
          <a:xfrm>
            <a:off x="9201445" y="2453430"/>
            <a:ext cx="5903414" cy="213722"/>
          </a:xfrm>
          <a:prstGeom prst="rect">
            <a:avLst/>
          </a:prstGeom>
        </p:spPr>
        <p:txBody>
          <a:bodyPr lIns="0" tIns="0" rIns="0" bIns="0" rtlCol="0" anchor="t">
            <a:spAutoFit/>
          </a:bodyPr>
          <a:lstStyle/>
          <a:p>
            <a:pPr algn="l">
              <a:lnSpc>
                <a:spcPts val="1410"/>
              </a:lnSpc>
            </a:pPr>
            <a:r>
              <a:rPr lang="en-US" sz="1100">
                <a:solidFill>
                  <a:srgbClr val="E5E0DF"/>
                </a:solidFill>
                <a:latin typeface="Inter" panose="02000503000000020004"/>
                <a:ea typeface="Inter" panose="02000503000000020004"/>
                <a:cs typeface="Inter" panose="02000503000000020004"/>
                <a:sym typeface="Inter" panose="02000503000000020004"/>
              </a:rPr>
              <a:t>Compare AI adoption and training effectiveness across geographic regions.</a:t>
            </a:r>
            <a:endParaRPr lang="en-US" sz="1100">
              <a:solidFill>
                <a:srgbClr val="E5E0DF"/>
              </a:solidFill>
              <a:latin typeface="Inter" panose="02000503000000020004"/>
              <a:ea typeface="Inter" panose="02000503000000020004"/>
              <a:cs typeface="Inter" panose="02000503000000020004"/>
              <a:sym typeface="Inter" panose="02000503000000020004"/>
            </a:endParaRPr>
          </a:p>
        </p:txBody>
      </p:sp>
      <p:sp>
        <p:nvSpPr>
          <p:cNvPr id="17" name="Freeform 17" descr="preencoded.png"/>
          <p:cNvSpPr/>
          <p:nvPr/>
        </p:nvSpPr>
        <p:spPr>
          <a:xfrm>
            <a:off x="3183141" y="2851394"/>
            <a:ext cx="302266" cy="302266"/>
          </a:xfrm>
          <a:custGeom>
            <a:avLst/>
            <a:gdLst/>
            <a:ahLst/>
            <a:cxnLst/>
            <a:rect l="l" t="t" r="r" b="b"/>
            <a:pathLst>
              <a:path w="302266" h="302266">
                <a:moveTo>
                  <a:pt x="0" y="0"/>
                </a:moveTo>
                <a:lnTo>
                  <a:pt x="302266" y="0"/>
                </a:lnTo>
                <a:lnTo>
                  <a:pt x="302266" y="302267"/>
                </a:lnTo>
                <a:lnTo>
                  <a:pt x="0" y="302267"/>
                </a:lnTo>
                <a:lnTo>
                  <a:pt x="0" y="0"/>
                </a:lnTo>
                <a:close/>
              </a:path>
            </a:pathLst>
          </a:custGeom>
          <a:blipFill>
            <a:blip r:embed="rId6">
              <a:extLst>
                <a:ext uri="{96DAC541-7B7A-43D3-8B79-37D633B846F1}">
                  <asvg:svgBlip xmlns:asvg="http://schemas.microsoft.com/office/drawing/2016/SVG/main" r:embed="rId7"/>
                </a:ext>
              </a:extLst>
            </a:blip>
            <a:stretch>
              <a:fillRect l="-1562" r="-1562"/>
            </a:stretch>
          </a:blipFill>
        </p:spPr>
      </p:sp>
      <p:sp>
        <p:nvSpPr>
          <p:cNvPr id="18" name="TextBox 18"/>
          <p:cNvSpPr txBox="1"/>
          <p:nvPr/>
        </p:nvSpPr>
        <p:spPr>
          <a:xfrm>
            <a:off x="3183141" y="3259188"/>
            <a:ext cx="2232127" cy="245716"/>
          </a:xfrm>
          <a:prstGeom prst="rect">
            <a:avLst/>
          </a:prstGeom>
        </p:spPr>
        <p:txBody>
          <a:bodyPr lIns="0" tIns="0" rIns="0" bIns="0" rtlCol="0" anchor="t">
            <a:spAutoFit/>
          </a:bodyPr>
          <a:lstStyle/>
          <a:p>
            <a:pPr algn="l">
              <a:lnSpc>
                <a:spcPts val="1745"/>
              </a:lnSpc>
            </a:pPr>
            <a:r>
              <a:rPr lang="en-US" sz="1400" b="1">
                <a:solidFill>
                  <a:srgbClr val="E5E0DF"/>
                </a:solidFill>
                <a:latin typeface="Inter Bold" panose="02000503000000020004"/>
                <a:ea typeface="Inter Bold" panose="02000503000000020004"/>
                <a:cs typeface="Inter Bold" panose="02000503000000020004"/>
                <a:sym typeface="Inter Bold" panose="02000503000000020004"/>
              </a:rPr>
              <a:t>Interactive Visualization</a:t>
            </a:r>
            <a:endParaRPr lang="en-US" sz="1400" b="1">
              <a:solidFill>
                <a:srgbClr val="E5E0DF"/>
              </a:solidFill>
              <a:latin typeface="Inter Bold" panose="02000503000000020004"/>
              <a:ea typeface="Inter Bold" panose="02000503000000020004"/>
              <a:cs typeface="Inter Bold" panose="02000503000000020004"/>
              <a:sym typeface="Inter Bold" panose="02000503000000020004"/>
            </a:endParaRPr>
          </a:p>
        </p:txBody>
      </p:sp>
      <p:sp>
        <p:nvSpPr>
          <p:cNvPr id="19" name="TextBox 19"/>
          <p:cNvSpPr txBox="1"/>
          <p:nvPr/>
        </p:nvSpPr>
        <p:spPr>
          <a:xfrm>
            <a:off x="3183141" y="3541071"/>
            <a:ext cx="5903271" cy="213722"/>
          </a:xfrm>
          <a:prstGeom prst="rect">
            <a:avLst/>
          </a:prstGeom>
        </p:spPr>
        <p:txBody>
          <a:bodyPr lIns="0" tIns="0" rIns="0" bIns="0" rtlCol="0" anchor="t">
            <a:spAutoFit/>
          </a:bodyPr>
          <a:lstStyle/>
          <a:p>
            <a:pPr algn="l">
              <a:lnSpc>
                <a:spcPts val="1410"/>
              </a:lnSpc>
            </a:pPr>
            <a:r>
              <a:rPr lang="en-US" sz="1100">
                <a:solidFill>
                  <a:srgbClr val="E5E0DF"/>
                </a:solidFill>
                <a:latin typeface="Inter" panose="02000503000000020004"/>
                <a:ea typeface="Inter" panose="02000503000000020004"/>
                <a:cs typeface="Inter" panose="02000503000000020004"/>
                <a:sym typeface="Inter" panose="02000503000000020004"/>
              </a:rPr>
              <a:t>Explore dynamic charts revealing trends between training hours and performance.</a:t>
            </a:r>
            <a:endParaRPr lang="en-US" sz="1100">
              <a:solidFill>
                <a:srgbClr val="E5E0DF"/>
              </a:solidFill>
              <a:latin typeface="Inter" panose="02000503000000020004"/>
              <a:ea typeface="Inter" panose="02000503000000020004"/>
              <a:cs typeface="Inter" panose="02000503000000020004"/>
              <a:sym typeface="Inter" panose="02000503000000020004"/>
            </a:endParaRPr>
          </a:p>
        </p:txBody>
      </p:sp>
      <p:sp>
        <p:nvSpPr>
          <p:cNvPr id="20" name="Freeform 20" descr="preencoded.png"/>
          <p:cNvSpPr/>
          <p:nvPr/>
        </p:nvSpPr>
        <p:spPr>
          <a:xfrm>
            <a:off x="9201445" y="2851394"/>
            <a:ext cx="302266" cy="302266"/>
          </a:xfrm>
          <a:custGeom>
            <a:avLst/>
            <a:gdLst/>
            <a:ahLst/>
            <a:cxnLst/>
            <a:rect l="l" t="t" r="r" b="b"/>
            <a:pathLst>
              <a:path w="302266" h="302266">
                <a:moveTo>
                  <a:pt x="0" y="0"/>
                </a:moveTo>
                <a:lnTo>
                  <a:pt x="302267" y="0"/>
                </a:lnTo>
                <a:lnTo>
                  <a:pt x="302267" y="302267"/>
                </a:lnTo>
                <a:lnTo>
                  <a:pt x="0" y="302267"/>
                </a:lnTo>
                <a:lnTo>
                  <a:pt x="0" y="0"/>
                </a:lnTo>
                <a:close/>
              </a:path>
            </a:pathLst>
          </a:custGeom>
          <a:blipFill>
            <a:blip r:embed="rId8">
              <a:extLst>
                <a:ext uri="{96DAC541-7B7A-43D3-8B79-37D633B846F1}">
                  <asvg:svgBlip xmlns:asvg="http://schemas.microsoft.com/office/drawing/2016/SVG/main" r:embed="rId9"/>
                </a:ext>
              </a:extLst>
            </a:blip>
            <a:stretch>
              <a:fillRect t="-9374" b="-9377"/>
            </a:stretch>
          </a:blipFill>
        </p:spPr>
      </p:sp>
      <p:sp>
        <p:nvSpPr>
          <p:cNvPr id="21" name="TextBox 21"/>
          <p:cNvSpPr txBox="1"/>
          <p:nvPr/>
        </p:nvSpPr>
        <p:spPr>
          <a:xfrm>
            <a:off x="9201445" y="3259188"/>
            <a:ext cx="2701976" cy="245716"/>
          </a:xfrm>
          <a:prstGeom prst="rect">
            <a:avLst/>
          </a:prstGeom>
        </p:spPr>
        <p:txBody>
          <a:bodyPr lIns="0" tIns="0" rIns="0" bIns="0" rtlCol="0" anchor="t">
            <a:spAutoFit/>
          </a:bodyPr>
          <a:lstStyle/>
          <a:p>
            <a:pPr algn="l">
              <a:lnSpc>
                <a:spcPts val="1745"/>
              </a:lnSpc>
            </a:pPr>
            <a:r>
              <a:rPr lang="en-US" sz="1400" b="1">
                <a:solidFill>
                  <a:srgbClr val="E5E0DF"/>
                </a:solidFill>
                <a:latin typeface="Inter Bold" panose="02000503000000020004"/>
                <a:ea typeface="Inter Bold" panose="02000503000000020004"/>
                <a:cs typeface="Inter Bold" panose="02000503000000020004"/>
                <a:sym typeface="Inter Bold" panose="02000503000000020004"/>
              </a:rPr>
              <a:t>Correlation Score Calculation</a:t>
            </a:r>
            <a:endParaRPr lang="en-US" sz="1400" b="1">
              <a:solidFill>
                <a:srgbClr val="E5E0DF"/>
              </a:solidFill>
              <a:latin typeface="Inter Bold" panose="02000503000000020004"/>
              <a:ea typeface="Inter Bold" panose="02000503000000020004"/>
              <a:cs typeface="Inter Bold" panose="02000503000000020004"/>
              <a:sym typeface="Inter Bold" panose="02000503000000020004"/>
            </a:endParaRPr>
          </a:p>
        </p:txBody>
      </p:sp>
      <p:sp>
        <p:nvSpPr>
          <p:cNvPr id="22" name="TextBox 22"/>
          <p:cNvSpPr txBox="1"/>
          <p:nvPr/>
        </p:nvSpPr>
        <p:spPr>
          <a:xfrm>
            <a:off x="9201445" y="3541071"/>
            <a:ext cx="5903414" cy="408384"/>
          </a:xfrm>
          <a:prstGeom prst="rect">
            <a:avLst/>
          </a:prstGeom>
        </p:spPr>
        <p:txBody>
          <a:bodyPr lIns="0" tIns="0" rIns="0" bIns="0" rtlCol="0" anchor="t">
            <a:spAutoFit/>
          </a:bodyPr>
          <a:lstStyle/>
          <a:p>
            <a:pPr algn="l">
              <a:lnSpc>
                <a:spcPts val="1410"/>
              </a:lnSpc>
            </a:pPr>
            <a:r>
              <a:rPr lang="en-US" sz="1100">
                <a:solidFill>
                  <a:srgbClr val="E5E0DF"/>
                </a:solidFill>
                <a:latin typeface="Inter" panose="02000503000000020004"/>
                <a:ea typeface="Inter" panose="02000503000000020004"/>
                <a:cs typeface="Inter" panose="02000503000000020004"/>
                <a:sym typeface="Inter" panose="02000503000000020004"/>
              </a:rPr>
              <a:t>Generate statistical correlation scores quantifying training-to-performance relationships.</a:t>
            </a:r>
            <a:endParaRPr lang="en-US" sz="1100">
              <a:solidFill>
                <a:srgbClr val="E5E0DF"/>
              </a:solidFill>
              <a:latin typeface="Inter" panose="02000503000000020004"/>
              <a:ea typeface="Inter" panose="02000503000000020004"/>
              <a:cs typeface="Inter" panose="02000503000000020004"/>
              <a:sym typeface="Inter" panose="02000503000000020004"/>
            </a:endParaRPr>
          </a:p>
        </p:txBody>
      </p:sp>
      <p:sp>
        <p:nvSpPr>
          <p:cNvPr id="23" name="Freeform 23" descr="preencoded.png"/>
          <p:cNvSpPr/>
          <p:nvPr/>
        </p:nvSpPr>
        <p:spPr>
          <a:xfrm>
            <a:off x="3183141" y="4133698"/>
            <a:ext cx="302266" cy="302266"/>
          </a:xfrm>
          <a:custGeom>
            <a:avLst/>
            <a:gdLst/>
            <a:ahLst/>
            <a:cxnLst/>
            <a:rect l="l" t="t" r="r" b="b"/>
            <a:pathLst>
              <a:path w="302266" h="302266">
                <a:moveTo>
                  <a:pt x="0" y="0"/>
                </a:moveTo>
                <a:lnTo>
                  <a:pt x="302266" y="0"/>
                </a:lnTo>
                <a:lnTo>
                  <a:pt x="302266" y="302266"/>
                </a:lnTo>
                <a:lnTo>
                  <a:pt x="0" y="302266"/>
                </a:lnTo>
                <a:lnTo>
                  <a:pt x="0" y="0"/>
                </a:lnTo>
                <a:close/>
              </a:path>
            </a:pathLst>
          </a:custGeom>
          <a:blipFill>
            <a:blip r:embed="rId10">
              <a:extLst>
                <a:ext uri="{96DAC541-7B7A-43D3-8B79-37D633B846F1}">
                  <asvg:svgBlip xmlns:asvg="http://schemas.microsoft.com/office/drawing/2016/SVG/main" r:embed="rId11"/>
                </a:ext>
              </a:extLst>
            </a:blip>
            <a:stretch>
              <a:fillRect t="-20312" b="-20312"/>
            </a:stretch>
          </a:blipFill>
        </p:spPr>
      </p:sp>
      <p:sp>
        <p:nvSpPr>
          <p:cNvPr id="24" name="TextBox 24"/>
          <p:cNvSpPr txBox="1"/>
          <p:nvPr/>
        </p:nvSpPr>
        <p:spPr>
          <a:xfrm>
            <a:off x="3183141" y="4541491"/>
            <a:ext cx="2871045" cy="245716"/>
          </a:xfrm>
          <a:prstGeom prst="rect">
            <a:avLst/>
          </a:prstGeom>
        </p:spPr>
        <p:txBody>
          <a:bodyPr lIns="0" tIns="0" rIns="0" bIns="0" rtlCol="0" anchor="t">
            <a:spAutoFit/>
          </a:bodyPr>
          <a:lstStyle/>
          <a:p>
            <a:pPr algn="l">
              <a:lnSpc>
                <a:spcPts val="1745"/>
              </a:lnSpc>
            </a:pPr>
            <a:r>
              <a:rPr lang="en-US" sz="1400" b="1">
                <a:solidFill>
                  <a:srgbClr val="E5E0DF"/>
                </a:solidFill>
                <a:latin typeface="Inter Bold" panose="02000503000000020004"/>
                <a:ea typeface="Inter Bold" panose="02000503000000020004"/>
                <a:cs typeface="Inter Bold" panose="02000503000000020004"/>
                <a:sym typeface="Inter Bold" panose="02000503000000020004"/>
              </a:rPr>
              <a:t>Business Performance Insights</a:t>
            </a:r>
            <a:endParaRPr lang="en-US" sz="1400" b="1">
              <a:solidFill>
                <a:srgbClr val="E5E0DF"/>
              </a:solidFill>
              <a:latin typeface="Inter Bold" panose="02000503000000020004"/>
              <a:ea typeface="Inter Bold" panose="02000503000000020004"/>
              <a:cs typeface="Inter Bold" panose="02000503000000020004"/>
              <a:sym typeface="Inter Bold" panose="02000503000000020004"/>
            </a:endParaRPr>
          </a:p>
        </p:txBody>
      </p:sp>
      <p:sp>
        <p:nvSpPr>
          <p:cNvPr id="25" name="TextBox 25"/>
          <p:cNvSpPr txBox="1"/>
          <p:nvPr/>
        </p:nvSpPr>
        <p:spPr>
          <a:xfrm>
            <a:off x="3183141" y="4823374"/>
            <a:ext cx="5903271" cy="213722"/>
          </a:xfrm>
          <a:prstGeom prst="rect">
            <a:avLst/>
          </a:prstGeom>
        </p:spPr>
        <p:txBody>
          <a:bodyPr lIns="0" tIns="0" rIns="0" bIns="0" rtlCol="0" anchor="t">
            <a:spAutoFit/>
          </a:bodyPr>
          <a:lstStyle/>
          <a:p>
            <a:pPr algn="l">
              <a:lnSpc>
                <a:spcPts val="1410"/>
              </a:lnSpc>
            </a:pPr>
            <a:r>
              <a:rPr lang="en-US" sz="1100">
                <a:solidFill>
                  <a:srgbClr val="E5E0DF"/>
                </a:solidFill>
                <a:latin typeface="Inter" panose="02000503000000020004"/>
                <a:ea typeface="Inter" panose="02000503000000020004"/>
                <a:cs typeface="Inter" panose="02000503000000020004"/>
                <a:sym typeface="Inter" panose="02000503000000020004"/>
              </a:rPr>
              <a:t>Surface actionable findings to guide training budget allocation.</a:t>
            </a:r>
            <a:endParaRPr lang="en-US" sz="1100">
              <a:solidFill>
                <a:srgbClr val="E5E0DF"/>
              </a:solidFill>
              <a:latin typeface="Inter" panose="02000503000000020004"/>
              <a:ea typeface="Inter" panose="02000503000000020004"/>
              <a:cs typeface="Inter" panose="02000503000000020004"/>
              <a:sym typeface="Inter" panose="02000503000000020004"/>
            </a:endParaRPr>
          </a:p>
        </p:txBody>
      </p:sp>
      <p:sp>
        <p:nvSpPr>
          <p:cNvPr id="26" name="Freeform 26" descr="preencoded.png"/>
          <p:cNvSpPr/>
          <p:nvPr/>
        </p:nvSpPr>
        <p:spPr>
          <a:xfrm>
            <a:off x="9201445" y="4133698"/>
            <a:ext cx="302266" cy="302266"/>
          </a:xfrm>
          <a:custGeom>
            <a:avLst/>
            <a:gdLst/>
            <a:ahLst/>
            <a:cxnLst/>
            <a:rect l="l" t="t" r="r" b="b"/>
            <a:pathLst>
              <a:path w="302266" h="302266">
                <a:moveTo>
                  <a:pt x="0" y="0"/>
                </a:moveTo>
                <a:lnTo>
                  <a:pt x="302267" y="0"/>
                </a:lnTo>
                <a:lnTo>
                  <a:pt x="302267" y="302266"/>
                </a:lnTo>
                <a:lnTo>
                  <a:pt x="0" y="302266"/>
                </a:lnTo>
                <a:lnTo>
                  <a:pt x="0" y="0"/>
                </a:lnTo>
                <a:close/>
              </a:path>
            </a:pathLst>
          </a:custGeom>
          <a:blipFill>
            <a:blip r:embed="rId12">
              <a:extLst>
                <a:ext uri="{96DAC541-7B7A-43D3-8B79-37D633B846F1}">
                  <asvg:svgBlip xmlns:asvg="http://schemas.microsoft.com/office/drawing/2016/SVG/main" r:embed="rId13"/>
                </a:ext>
              </a:extLst>
            </a:blip>
            <a:stretch>
              <a:fillRect t="-20312" b="-20312"/>
            </a:stretch>
          </a:blipFill>
        </p:spPr>
      </p:sp>
      <p:sp>
        <p:nvSpPr>
          <p:cNvPr id="27" name="TextBox 27"/>
          <p:cNvSpPr txBox="1"/>
          <p:nvPr/>
        </p:nvSpPr>
        <p:spPr>
          <a:xfrm>
            <a:off x="9201445" y="4541491"/>
            <a:ext cx="2609250" cy="245716"/>
          </a:xfrm>
          <a:prstGeom prst="rect">
            <a:avLst/>
          </a:prstGeom>
        </p:spPr>
        <p:txBody>
          <a:bodyPr lIns="0" tIns="0" rIns="0" bIns="0" rtlCol="0" anchor="t">
            <a:spAutoFit/>
          </a:bodyPr>
          <a:lstStyle/>
          <a:p>
            <a:pPr algn="l">
              <a:lnSpc>
                <a:spcPts val="1745"/>
              </a:lnSpc>
            </a:pPr>
            <a:r>
              <a:rPr lang="en-US" sz="1400" b="1">
                <a:solidFill>
                  <a:srgbClr val="E5E0DF"/>
                </a:solidFill>
                <a:latin typeface="Inter Bold" panose="02000503000000020004"/>
                <a:ea typeface="Inter Bold" panose="02000503000000020004"/>
                <a:cs typeface="Inter Bold" panose="02000503000000020004"/>
                <a:sym typeface="Inter Bold" panose="02000503000000020004"/>
              </a:rPr>
              <a:t>Comparative Trend Analysis</a:t>
            </a:r>
            <a:endParaRPr lang="en-US" sz="1400" b="1">
              <a:solidFill>
                <a:srgbClr val="E5E0DF"/>
              </a:solidFill>
              <a:latin typeface="Inter Bold" panose="02000503000000020004"/>
              <a:ea typeface="Inter Bold" panose="02000503000000020004"/>
              <a:cs typeface="Inter Bold" panose="02000503000000020004"/>
              <a:sym typeface="Inter Bold" panose="02000503000000020004"/>
            </a:endParaRPr>
          </a:p>
        </p:txBody>
      </p:sp>
      <p:sp>
        <p:nvSpPr>
          <p:cNvPr id="28" name="TextBox 28"/>
          <p:cNvSpPr txBox="1"/>
          <p:nvPr/>
        </p:nvSpPr>
        <p:spPr>
          <a:xfrm>
            <a:off x="9201445" y="4823374"/>
            <a:ext cx="5903414" cy="213722"/>
          </a:xfrm>
          <a:prstGeom prst="rect">
            <a:avLst/>
          </a:prstGeom>
        </p:spPr>
        <p:txBody>
          <a:bodyPr lIns="0" tIns="0" rIns="0" bIns="0" rtlCol="0" anchor="t">
            <a:spAutoFit/>
          </a:bodyPr>
          <a:lstStyle/>
          <a:p>
            <a:pPr algn="l">
              <a:lnSpc>
                <a:spcPts val="1410"/>
              </a:lnSpc>
            </a:pPr>
            <a:r>
              <a:rPr lang="en-US" sz="1100">
                <a:solidFill>
                  <a:srgbClr val="E5E0DF"/>
                </a:solidFill>
                <a:latin typeface="Inter" panose="02000503000000020004"/>
                <a:ea typeface="Inter" panose="02000503000000020004"/>
                <a:cs typeface="Inter" panose="02000503000000020004"/>
                <a:sym typeface="Inter" panose="02000503000000020004"/>
              </a:rPr>
              <a:t>Benchmark training strategies against peer organizations over time.</a:t>
            </a:r>
            <a:endParaRPr lang="en-US" sz="1100">
              <a:solidFill>
                <a:srgbClr val="E5E0DF"/>
              </a:solidFill>
              <a:latin typeface="Inter" panose="02000503000000020004"/>
              <a:ea typeface="Inter" panose="02000503000000020004"/>
              <a:cs typeface="Inter" panose="02000503000000020004"/>
              <a:sym typeface="Inter" panose="02000503000000020004"/>
            </a:endParaRPr>
          </a:p>
        </p:txBody>
      </p:sp>
      <p:grpSp>
        <p:nvGrpSpPr>
          <p:cNvPr id="29" name="Group 29"/>
          <p:cNvGrpSpPr/>
          <p:nvPr/>
        </p:nvGrpSpPr>
        <p:grpSpPr>
          <a:xfrm rot="0">
            <a:off x="3183141" y="5244255"/>
            <a:ext cx="6390980" cy="4386110"/>
            <a:chOff x="0" y="0"/>
            <a:chExt cx="8521306" cy="5848147"/>
          </a:xfrm>
        </p:grpSpPr>
        <p:sp>
          <p:nvSpPr>
            <p:cNvPr id="30" name="Freeform 30" descr="preencoded.png"/>
            <p:cNvSpPr/>
            <p:nvPr/>
          </p:nvSpPr>
          <p:spPr>
            <a:xfrm>
              <a:off x="0" y="0"/>
              <a:ext cx="8521319" cy="5848096"/>
            </a:xfrm>
            <a:custGeom>
              <a:avLst/>
              <a:gdLst/>
              <a:ahLst/>
              <a:cxnLst/>
              <a:rect l="l" t="t" r="r" b="b"/>
              <a:pathLst>
                <a:path w="8521319" h="5848096">
                  <a:moveTo>
                    <a:pt x="0" y="0"/>
                  </a:moveTo>
                  <a:lnTo>
                    <a:pt x="8521319" y="0"/>
                  </a:lnTo>
                  <a:lnTo>
                    <a:pt x="8521319" y="5848096"/>
                  </a:lnTo>
                  <a:lnTo>
                    <a:pt x="0" y="5848096"/>
                  </a:lnTo>
                  <a:lnTo>
                    <a:pt x="0" y="0"/>
                  </a:lnTo>
                  <a:close/>
                </a:path>
              </a:pathLst>
            </a:custGeom>
            <a:blipFill>
              <a:blip r:embed="rId14"/>
              <a:stretch>
                <a:fillRect l="-54" r="-54"/>
              </a:stretch>
            </a:blipFill>
          </p:spPr>
        </p:sp>
      </p:grpSp>
      <p:sp>
        <p:nvSpPr>
          <p:cNvPr id="31" name="TextBox 31"/>
          <p:cNvSpPr txBox="1"/>
          <p:nvPr/>
        </p:nvSpPr>
        <p:spPr>
          <a:xfrm>
            <a:off x="9952434" y="5223272"/>
            <a:ext cx="2967038" cy="245716"/>
          </a:xfrm>
          <a:prstGeom prst="rect">
            <a:avLst/>
          </a:prstGeom>
        </p:spPr>
        <p:txBody>
          <a:bodyPr lIns="0" tIns="0" rIns="0" bIns="0" rtlCol="0" anchor="t">
            <a:spAutoFit/>
          </a:bodyPr>
          <a:lstStyle/>
          <a:p>
            <a:pPr algn="l">
              <a:lnSpc>
                <a:spcPts val="1745"/>
              </a:lnSpc>
            </a:pPr>
            <a:r>
              <a:rPr lang="en-US" sz="1400" b="1">
                <a:solidFill>
                  <a:srgbClr val="FFFFFF"/>
                </a:solidFill>
                <a:latin typeface="Inter Bold" panose="02000503000000020004"/>
                <a:ea typeface="Inter Bold" panose="02000503000000020004"/>
                <a:cs typeface="Inter Bold" panose="02000503000000020004"/>
                <a:sym typeface="Inter Bold" panose="02000503000000020004"/>
              </a:rPr>
              <a:t>Illustrative Correlation</a:t>
            </a:r>
            <a:endParaRPr lang="en-US" sz="1400" b="1">
              <a:solidFill>
                <a:srgbClr val="FFFFFF"/>
              </a:solidFill>
              <a:latin typeface="Inter Bold" panose="02000503000000020004"/>
              <a:ea typeface="Inter Bold" panose="02000503000000020004"/>
              <a:cs typeface="Inter Bold" panose="02000503000000020004"/>
              <a:sym typeface="Inter Bold" panose="02000503000000020004"/>
            </a:endParaRPr>
          </a:p>
        </p:txBody>
      </p:sp>
      <p:sp>
        <p:nvSpPr>
          <p:cNvPr id="32" name="TextBox 32"/>
          <p:cNvSpPr txBox="1"/>
          <p:nvPr/>
        </p:nvSpPr>
        <p:spPr>
          <a:xfrm>
            <a:off x="9952434" y="5542064"/>
            <a:ext cx="5161807" cy="603056"/>
          </a:xfrm>
          <a:prstGeom prst="rect">
            <a:avLst/>
          </a:prstGeom>
        </p:spPr>
        <p:txBody>
          <a:bodyPr lIns="0" tIns="0" rIns="0" bIns="0" rtlCol="0" anchor="t">
            <a:spAutoFit/>
          </a:bodyPr>
          <a:lstStyle/>
          <a:p>
            <a:pPr algn="l">
              <a:lnSpc>
                <a:spcPts val="1410"/>
              </a:lnSpc>
            </a:pPr>
            <a:r>
              <a:rPr lang="en-US" sz="1100">
                <a:solidFill>
                  <a:srgbClr val="E5E0DF"/>
                </a:solidFill>
                <a:latin typeface="Inter" panose="02000503000000020004"/>
                <a:ea typeface="Inter" panose="02000503000000020004"/>
                <a:cs typeface="Inter" panose="02000503000000020004"/>
                <a:sym typeface="Inter" panose="02000503000000020004"/>
              </a:rPr>
              <a:t>Training hours and performance scores show a </a:t>
            </a:r>
            <a:r>
              <a:rPr lang="en-US" sz="1100" b="1">
                <a:solidFill>
                  <a:srgbClr val="E5E0DF"/>
                </a:solidFill>
                <a:latin typeface="Inter Bold" panose="02000503000000020004"/>
                <a:ea typeface="Inter Bold" panose="02000503000000020004"/>
                <a:cs typeface="Inter Bold" panose="02000503000000020004"/>
                <a:sym typeface="Inter Bold" panose="02000503000000020004"/>
              </a:rPr>
              <a:t>positive correlation</a:t>
            </a:r>
            <a:r>
              <a:rPr lang="en-US" sz="1100">
                <a:solidFill>
                  <a:srgbClr val="E5E0DF"/>
                </a:solidFill>
                <a:latin typeface="Inter" panose="02000503000000020004"/>
                <a:ea typeface="Inter" panose="02000503000000020004"/>
                <a:cs typeface="Inter" panose="02000503000000020004"/>
                <a:sym typeface="Inter" panose="02000503000000020004"/>
              </a:rPr>
              <a:t> across industries. The trend line indicates diminishing returns beyond 100 hours.</a:t>
            </a:r>
            <a:endParaRPr lang="en-US" sz="1100">
              <a:solidFill>
                <a:srgbClr val="E5E0DF"/>
              </a:solidFill>
              <a:latin typeface="Inter" panose="02000503000000020004"/>
              <a:ea typeface="Inter" panose="02000503000000020004"/>
              <a:cs typeface="Inter" panose="02000503000000020004"/>
              <a:sym typeface="Inter" panose="020005030000000200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0">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C0C0C"/>
            </a:solidFill>
          </p:spPr>
        </p:sp>
      </p:grpSp>
      <p:grpSp>
        <p:nvGrpSpPr>
          <p:cNvPr id="4" name="Group 4"/>
          <p:cNvGrpSpPr/>
          <p:nvPr/>
        </p:nvGrpSpPr>
        <p:grpSpPr>
          <a:xfrm rot="0">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272525"/>
            </a:solidFill>
          </p:spPr>
        </p:sp>
      </p:grpSp>
      <p:grpSp>
        <p:nvGrpSpPr>
          <p:cNvPr id="6" name="Group 6"/>
          <p:cNvGrpSpPr/>
          <p:nvPr/>
        </p:nvGrpSpPr>
        <p:grpSpPr>
          <a:xfrm rot="0">
            <a:off x="2872683" y="456752"/>
            <a:ext cx="1752152" cy="290512"/>
            <a:chOff x="0" y="0"/>
            <a:chExt cx="2336203" cy="387350"/>
          </a:xfrm>
        </p:grpSpPr>
        <p:sp>
          <p:nvSpPr>
            <p:cNvPr id="7" name="Freeform 7"/>
            <p:cNvSpPr/>
            <p:nvPr/>
          </p:nvSpPr>
          <p:spPr>
            <a:xfrm>
              <a:off x="0" y="0"/>
              <a:ext cx="2336292" cy="387350"/>
            </a:xfrm>
            <a:custGeom>
              <a:avLst/>
              <a:gdLst/>
              <a:ahLst/>
              <a:cxnLst/>
              <a:rect l="l" t="t" r="r" b="b"/>
              <a:pathLst>
                <a:path w="2336292" h="387350">
                  <a:moveTo>
                    <a:pt x="0" y="73660"/>
                  </a:moveTo>
                  <a:cubicBezTo>
                    <a:pt x="0" y="33020"/>
                    <a:pt x="33020" y="0"/>
                    <a:pt x="73660" y="0"/>
                  </a:cubicBezTo>
                  <a:lnTo>
                    <a:pt x="2262632" y="0"/>
                  </a:lnTo>
                  <a:cubicBezTo>
                    <a:pt x="2303272" y="0"/>
                    <a:pt x="2336292" y="33020"/>
                    <a:pt x="2336292" y="73660"/>
                  </a:cubicBezTo>
                  <a:lnTo>
                    <a:pt x="2336292" y="313690"/>
                  </a:lnTo>
                  <a:cubicBezTo>
                    <a:pt x="2336292" y="354330"/>
                    <a:pt x="2303272" y="387350"/>
                    <a:pt x="2262632" y="387350"/>
                  </a:cubicBezTo>
                  <a:lnTo>
                    <a:pt x="73660" y="387350"/>
                  </a:lnTo>
                  <a:cubicBezTo>
                    <a:pt x="33020" y="387350"/>
                    <a:pt x="0" y="354330"/>
                    <a:pt x="0" y="313690"/>
                  </a:cubicBezTo>
                  <a:close/>
                </a:path>
              </a:pathLst>
            </a:custGeom>
            <a:blipFill>
              <a:blip r:embed="rId1">
                <a:alphaModFix amt="0"/>
              </a:blip>
              <a:stretch>
                <a:fillRect t="-67519" r="3" b="-67519"/>
              </a:stretch>
            </a:blipFill>
            <a:ln w="9526" cap="sq">
              <a:solidFill>
                <a:srgbClr val="2B0AFF"/>
              </a:solidFill>
              <a:prstDash val="solid"/>
              <a:miter/>
            </a:ln>
          </p:spPr>
        </p:sp>
      </p:grpSp>
      <p:sp>
        <p:nvSpPr>
          <p:cNvPr id="8" name="TextBox 8"/>
          <p:cNvSpPr txBox="1"/>
          <p:nvPr/>
        </p:nvSpPr>
        <p:spPr>
          <a:xfrm>
            <a:off x="2982220" y="499615"/>
            <a:ext cx="2447477" cy="185738"/>
          </a:xfrm>
          <a:prstGeom prst="rect">
            <a:avLst/>
          </a:prstGeom>
        </p:spPr>
        <p:txBody>
          <a:bodyPr lIns="0" tIns="0" rIns="0" bIns="0" rtlCol="0" anchor="t">
            <a:spAutoFit/>
          </a:bodyPr>
          <a:lstStyle/>
          <a:p>
            <a:pPr algn="l">
              <a:lnSpc>
                <a:spcPts val="1310"/>
              </a:lnSpc>
            </a:pPr>
            <a:r>
              <a:rPr lang="en-US" sz="1000">
                <a:solidFill>
                  <a:srgbClr val="2B0AFF"/>
                </a:solidFill>
                <a:latin typeface="Inter" panose="02000503000000020004"/>
                <a:ea typeface="Inter" panose="02000503000000020004"/>
                <a:cs typeface="Inter" panose="02000503000000020004"/>
                <a:sym typeface="Inter" panose="02000503000000020004"/>
              </a:rPr>
              <a:t>SYSTEM ARCHITECTURE</a:t>
            </a:r>
            <a:endParaRPr lang="en-US" sz="1000">
              <a:solidFill>
                <a:srgbClr val="2B0AFF"/>
              </a:solidFill>
              <a:latin typeface="Inter" panose="02000503000000020004"/>
              <a:ea typeface="Inter" panose="02000503000000020004"/>
              <a:cs typeface="Inter" panose="02000503000000020004"/>
              <a:sym typeface="Inter" panose="02000503000000020004"/>
            </a:endParaRPr>
          </a:p>
        </p:txBody>
      </p:sp>
      <p:sp>
        <p:nvSpPr>
          <p:cNvPr id="9" name="TextBox 9"/>
          <p:cNvSpPr txBox="1"/>
          <p:nvPr/>
        </p:nvSpPr>
        <p:spPr>
          <a:xfrm>
            <a:off x="2877445" y="773611"/>
            <a:ext cx="7416698" cy="506168"/>
          </a:xfrm>
          <a:prstGeom prst="rect">
            <a:avLst/>
          </a:prstGeom>
        </p:spPr>
        <p:txBody>
          <a:bodyPr lIns="0" tIns="0" rIns="0" bIns="0" rtlCol="0" anchor="t">
            <a:spAutoFit/>
          </a:bodyPr>
          <a:lstStyle/>
          <a:p>
            <a:pPr algn="l">
              <a:lnSpc>
                <a:spcPts val="3870"/>
              </a:lnSpc>
            </a:pPr>
            <a:r>
              <a:rPr lang="en-US" sz="3100" b="1">
                <a:solidFill>
                  <a:srgbClr val="FFFFFF"/>
                </a:solidFill>
                <a:latin typeface="Inter Bold" panose="02000503000000020004"/>
                <a:ea typeface="Inter Bold" panose="02000503000000020004"/>
                <a:cs typeface="Inter Bold" panose="02000503000000020004"/>
                <a:sym typeface="Inter Bold" panose="02000503000000020004"/>
              </a:rPr>
              <a:t>End-to-End Platform Architecture</a:t>
            </a:r>
            <a:endParaRPr lang="en-US" sz="3100" b="1">
              <a:solidFill>
                <a:srgbClr val="FFFFFF"/>
              </a:solidFill>
              <a:latin typeface="Inter Bold" panose="02000503000000020004"/>
              <a:ea typeface="Inter Bold" panose="02000503000000020004"/>
              <a:cs typeface="Inter Bold" panose="02000503000000020004"/>
              <a:sym typeface="Inter Bold" panose="02000503000000020004"/>
            </a:endParaRPr>
          </a:p>
        </p:txBody>
      </p:sp>
      <p:sp>
        <p:nvSpPr>
          <p:cNvPr id="10" name="TextBox 10"/>
          <p:cNvSpPr txBox="1"/>
          <p:nvPr/>
        </p:nvSpPr>
        <p:spPr>
          <a:xfrm>
            <a:off x="2877445" y="1413424"/>
            <a:ext cx="13447509" cy="227562"/>
          </a:xfrm>
          <a:prstGeom prst="rect">
            <a:avLst/>
          </a:prstGeom>
        </p:spPr>
        <p:txBody>
          <a:bodyPr lIns="0" tIns="0" rIns="0" bIns="0" rtlCol="0" anchor="t">
            <a:spAutoFit/>
          </a:bodyPr>
          <a:lstStyle/>
          <a:p>
            <a:pPr algn="l">
              <a:lnSpc>
                <a:spcPts val="1570"/>
              </a:lnSpc>
            </a:pPr>
            <a:r>
              <a:rPr lang="en-US" sz="1200">
                <a:solidFill>
                  <a:srgbClr val="E5E0DF"/>
                </a:solidFill>
                <a:latin typeface="Inter" panose="02000503000000020004"/>
                <a:ea typeface="Inter" panose="02000503000000020004"/>
                <a:cs typeface="Inter" panose="02000503000000020004"/>
                <a:sym typeface="Inter" panose="02000503000000020004"/>
              </a:rPr>
              <a:t>The platform follows a </a:t>
            </a:r>
            <a:r>
              <a:rPr lang="en-US" sz="1200" b="1">
                <a:solidFill>
                  <a:srgbClr val="E5E0DF"/>
                </a:solidFill>
                <a:latin typeface="Inter Bold" panose="02000503000000020004"/>
                <a:ea typeface="Inter Bold" panose="02000503000000020004"/>
                <a:cs typeface="Inter Bold" panose="02000503000000020004"/>
                <a:sym typeface="Inter Bold" panose="02000503000000020004"/>
              </a:rPr>
              <a:t>three-tier architecture</a:t>
            </a:r>
            <a:r>
              <a:rPr lang="en-US" sz="1200">
                <a:solidFill>
                  <a:srgbClr val="E5E0DF"/>
                </a:solidFill>
                <a:latin typeface="Inter" panose="02000503000000020004"/>
                <a:ea typeface="Inter" panose="02000503000000020004"/>
                <a:cs typeface="Inter" panose="02000503000000020004"/>
                <a:sym typeface="Inter" panose="02000503000000020004"/>
              </a:rPr>
              <a:t> separating concerns across presentation, application, and data layers for scalability and maintainability.</a:t>
            </a:r>
            <a:endParaRPr lang="en-US" sz="1200">
              <a:solidFill>
                <a:srgbClr val="E5E0DF"/>
              </a:solidFill>
              <a:latin typeface="Inter" panose="02000503000000020004"/>
              <a:ea typeface="Inter" panose="02000503000000020004"/>
              <a:cs typeface="Inter" panose="02000503000000020004"/>
              <a:sym typeface="Inter" panose="02000503000000020004"/>
            </a:endParaRPr>
          </a:p>
        </p:txBody>
      </p:sp>
      <p:grpSp>
        <p:nvGrpSpPr>
          <p:cNvPr id="11" name="Group 11"/>
          <p:cNvGrpSpPr/>
          <p:nvPr/>
        </p:nvGrpSpPr>
        <p:grpSpPr>
          <a:xfrm rot="0">
            <a:off x="2877445" y="1755429"/>
            <a:ext cx="12533109" cy="6995217"/>
            <a:chOff x="0" y="0"/>
            <a:chExt cx="16710812" cy="9326956"/>
          </a:xfrm>
        </p:grpSpPr>
        <p:sp>
          <p:nvSpPr>
            <p:cNvPr id="12" name="Freeform 12" descr="preencoded.png"/>
            <p:cNvSpPr/>
            <p:nvPr/>
          </p:nvSpPr>
          <p:spPr>
            <a:xfrm>
              <a:off x="0" y="0"/>
              <a:ext cx="16710788" cy="9327007"/>
            </a:xfrm>
            <a:custGeom>
              <a:avLst/>
              <a:gdLst/>
              <a:ahLst/>
              <a:cxnLst/>
              <a:rect l="l" t="t" r="r" b="b"/>
              <a:pathLst>
                <a:path w="16710788" h="9327007">
                  <a:moveTo>
                    <a:pt x="0" y="0"/>
                  </a:moveTo>
                  <a:lnTo>
                    <a:pt x="16710788" y="0"/>
                  </a:lnTo>
                  <a:lnTo>
                    <a:pt x="16710788" y="9327007"/>
                  </a:lnTo>
                  <a:lnTo>
                    <a:pt x="0" y="9327007"/>
                  </a:lnTo>
                  <a:lnTo>
                    <a:pt x="0" y="0"/>
                  </a:lnTo>
                  <a:close/>
                </a:path>
              </a:pathLst>
            </a:custGeom>
            <a:blipFill>
              <a:blip r:embed="rId2"/>
              <a:stretch>
                <a:fillRect l="-34" r="-34"/>
              </a:stretch>
            </a:blipFill>
          </p:spPr>
        </p:sp>
      </p:grpSp>
      <p:sp>
        <p:nvSpPr>
          <p:cNvPr id="13" name="TextBox 13"/>
          <p:cNvSpPr txBox="1"/>
          <p:nvPr/>
        </p:nvSpPr>
        <p:spPr>
          <a:xfrm>
            <a:off x="2877445" y="8957367"/>
            <a:ext cx="2900963" cy="257775"/>
          </a:xfrm>
          <a:prstGeom prst="rect">
            <a:avLst/>
          </a:prstGeom>
        </p:spPr>
        <p:txBody>
          <a:bodyPr lIns="0" tIns="0" rIns="0" bIns="0" rtlCol="0" anchor="t">
            <a:spAutoFit/>
          </a:bodyPr>
          <a:lstStyle/>
          <a:p>
            <a:pPr algn="l">
              <a:lnSpc>
                <a:spcPts val="1870"/>
              </a:lnSpc>
            </a:pPr>
            <a:r>
              <a:rPr lang="en-US" sz="1500" b="1">
                <a:solidFill>
                  <a:srgbClr val="FFFFFF"/>
                </a:solidFill>
                <a:latin typeface="Inter Bold" panose="02000503000000020004"/>
                <a:ea typeface="Inter Bold" panose="02000503000000020004"/>
                <a:cs typeface="Inter Bold" panose="02000503000000020004"/>
                <a:sym typeface="Inter Bold" panose="02000503000000020004"/>
              </a:rPr>
              <a:t>Frontend Layer</a:t>
            </a:r>
            <a:endParaRPr lang="en-US" sz="1500" b="1">
              <a:solidFill>
                <a:srgbClr val="FFFFFF"/>
              </a:solidFill>
              <a:latin typeface="Inter Bold" panose="02000503000000020004"/>
              <a:ea typeface="Inter Bold" panose="02000503000000020004"/>
              <a:cs typeface="Inter Bold" panose="02000503000000020004"/>
              <a:sym typeface="Inter Bold" panose="02000503000000020004"/>
            </a:endParaRPr>
          </a:p>
        </p:txBody>
      </p:sp>
      <p:sp>
        <p:nvSpPr>
          <p:cNvPr id="14" name="TextBox 14"/>
          <p:cNvSpPr txBox="1"/>
          <p:nvPr/>
        </p:nvSpPr>
        <p:spPr>
          <a:xfrm>
            <a:off x="2877445" y="9297886"/>
            <a:ext cx="6072778" cy="436064"/>
          </a:xfrm>
          <a:prstGeom prst="rect">
            <a:avLst/>
          </a:prstGeom>
        </p:spPr>
        <p:txBody>
          <a:bodyPr lIns="0" tIns="0" rIns="0" bIns="0" rtlCol="0" anchor="t">
            <a:spAutoFit/>
          </a:bodyPr>
          <a:lstStyle/>
          <a:p>
            <a:pPr algn="l">
              <a:lnSpc>
                <a:spcPts val="1570"/>
              </a:lnSpc>
            </a:pPr>
            <a:r>
              <a:rPr lang="en-US" sz="1200" b="1">
                <a:solidFill>
                  <a:srgbClr val="E5E0DF"/>
                </a:solidFill>
                <a:latin typeface="Inter Bold" panose="02000503000000020004"/>
                <a:ea typeface="Inter Bold" panose="02000503000000020004"/>
                <a:cs typeface="Inter Bold" panose="02000503000000020004"/>
                <a:sym typeface="Inter Bold" panose="02000503000000020004"/>
              </a:rPr>
              <a:t>React.js</a:t>
            </a:r>
            <a:r>
              <a:rPr lang="en-US" sz="1200">
                <a:solidFill>
                  <a:srgbClr val="E5E0DF"/>
                </a:solidFill>
                <a:latin typeface="Inter" panose="02000503000000020004"/>
                <a:ea typeface="Inter" panose="02000503000000020004"/>
                <a:cs typeface="Inter" panose="02000503000000020004"/>
                <a:sym typeface="Inter" panose="02000503000000020004"/>
              </a:rPr>
              <a:t> delivers a responsive interface with </a:t>
            </a:r>
            <a:r>
              <a:rPr lang="en-US" sz="1200" b="1">
                <a:solidFill>
                  <a:srgbClr val="E5E0DF"/>
                </a:solidFill>
                <a:latin typeface="Inter Bold" panose="02000503000000020004"/>
                <a:ea typeface="Inter Bold" panose="02000503000000020004"/>
                <a:cs typeface="Inter Bold" panose="02000503000000020004"/>
                <a:sym typeface="Inter Bold" panose="02000503000000020004"/>
              </a:rPr>
              <a:t>Recharts</a:t>
            </a:r>
            <a:r>
              <a:rPr lang="en-US" sz="1200">
                <a:solidFill>
                  <a:srgbClr val="E5E0DF"/>
                </a:solidFill>
                <a:latin typeface="Inter" panose="02000503000000020004"/>
                <a:ea typeface="Inter" panose="02000503000000020004"/>
                <a:cs typeface="Inter" panose="02000503000000020004"/>
                <a:sym typeface="Inter" panose="02000503000000020004"/>
              </a:rPr>
              <a:t> for dynamic data visualization. Users interact with filters and charts in real time.</a:t>
            </a:r>
            <a:endParaRPr lang="en-US" sz="1200">
              <a:solidFill>
                <a:srgbClr val="E5E0DF"/>
              </a:solidFill>
              <a:latin typeface="Inter" panose="02000503000000020004"/>
              <a:ea typeface="Inter" panose="02000503000000020004"/>
              <a:cs typeface="Inter" panose="02000503000000020004"/>
              <a:sym typeface="Inter" panose="02000503000000020004"/>
            </a:endParaRPr>
          </a:p>
        </p:txBody>
      </p:sp>
      <p:sp>
        <p:nvSpPr>
          <p:cNvPr id="15" name="TextBox 15"/>
          <p:cNvSpPr txBox="1"/>
          <p:nvPr/>
        </p:nvSpPr>
        <p:spPr>
          <a:xfrm>
            <a:off x="9347302" y="8957367"/>
            <a:ext cx="3489569" cy="257775"/>
          </a:xfrm>
          <a:prstGeom prst="rect">
            <a:avLst/>
          </a:prstGeom>
        </p:spPr>
        <p:txBody>
          <a:bodyPr lIns="0" tIns="0" rIns="0" bIns="0" rtlCol="0" anchor="t">
            <a:spAutoFit/>
          </a:bodyPr>
          <a:lstStyle/>
          <a:p>
            <a:pPr algn="l">
              <a:lnSpc>
                <a:spcPts val="1870"/>
              </a:lnSpc>
            </a:pPr>
            <a:r>
              <a:rPr lang="en-US" sz="1500" b="1">
                <a:solidFill>
                  <a:srgbClr val="FFFFFF"/>
                </a:solidFill>
                <a:latin typeface="Inter Bold" panose="02000503000000020004"/>
                <a:ea typeface="Inter Bold" panose="02000503000000020004"/>
                <a:cs typeface="Inter Bold" panose="02000503000000020004"/>
                <a:sym typeface="Inter Bold" panose="02000503000000020004"/>
              </a:rPr>
              <a:t>Backend &amp; Analytics Layer</a:t>
            </a:r>
            <a:endParaRPr lang="en-US" sz="1500" b="1">
              <a:solidFill>
                <a:srgbClr val="FFFFFF"/>
              </a:solidFill>
              <a:latin typeface="Inter Bold" panose="02000503000000020004"/>
              <a:ea typeface="Inter Bold" panose="02000503000000020004"/>
              <a:cs typeface="Inter Bold" panose="02000503000000020004"/>
              <a:sym typeface="Inter Bold" panose="02000503000000020004"/>
            </a:endParaRPr>
          </a:p>
        </p:txBody>
      </p:sp>
      <p:sp>
        <p:nvSpPr>
          <p:cNvPr id="16" name="TextBox 16"/>
          <p:cNvSpPr txBox="1"/>
          <p:nvPr/>
        </p:nvSpPr>
        <p:spPr>
          <a:xfrm>
            <a:off x="9347302" y="9297886"/>
            <a:ext cx="6072778" cy="436064"/>
          </a:xfrm>
          <a:prstGeom prst="rect">
            <a:avLst/>
          </a:prstGeom>
        </p:spPr>
        <p:txBody>
          <a:bodyPr lIns="0" tIns="0" rIns="0" bIns="0" rtlCol="0" anchor="t">
            <a:spAutoFit/>
          </a:bodyPr>
          <a:lstStyle/>
          <a:p>
            <a:pPr algn="l">
              <a:lnSpc>
                <a:spcPts val="1570"/>
              </a:lnSpc>
            </a:pPr>
            <a:r>
              <a:rPr lang="en-US" sz="1200" b="1">
                <a:solidFill>
                  <a:srgbClr val="E5E0DF"/>
                </a:solidFill>
                <a:latin typeface="Inter Bold" panose="02000503000000020004"/>
                <a:ea typeface="Inter Bold" panose="02000503000000020004"/>
                <a:cs typeface="Inter Bold" panose="02000503000000020004"/>
                <a:sym typeface="Inter Bold" panose="02000503000000020004"/>
              </a:rPr>
              <a:t>FastAPI</a:t>
            </a:r>
            <a:r>
              <a:rPr lang="en-US" sz="1200">
                <a:solidFill>
                  <a:srgbClr val="E5E0DF"/>
                </a:solidFill>
                <a:latin typeface="Inter" panose="02000503000000020004"/>
                <a:ea typeface="Inter" panose="02000503000000020004"/>
                <a:cs typeface="Inter" panose="02000503000000020004"/>
                <a:sym typeface="Inter" panose="02000503000000020004"/>
              </a:rPr>
              <a:t> handles requests and orchestrates data workflows. </a:t>
            </a:r>
            <a:r>
              <a:rPr lang="en-US" sz="1200" b="1">
                <a:solidFill>
                  <a:srgbClr val="E5E0DF"/>
                </a:solidFill>
                <a:latin typeface="Inter Bold" panose="02000503000000020004"/>
                <a:ea typeface="Inter Bold" panose="02000503000000020004"/>
                <a:cs typeface="Inter Bold" panose="02000503000000020004"/>
                <a:sym typeface="Inter Bold" panose="02000503000000020004"/>
              </a:rPr>
              <a:t>Pandas</a:t>
            </a:r>
            <a:r>
              <a:rPr lang="en-US" sz="1200">
                <a:solidFill>
                  <a:srgbClr val="E5E0DF"/>
                </a:solidFill>
                <a:latin typeface="Inter" panose="02000503000000020004"/>
                <a:ea typeface="Inter" panose="02000503000000020004"/>
                <a:cs typeface="Inter" panose="02000503000000020004"/>
                <a:sym typeface="Inter" panose="02000503000000020004"/>
              </a:rPr>
              <a:t> processes datasets while </a:t>
            </a:r>
            <a:r>
              <a:rPr lang="en-US" sz="1200" b="1">
                <a:solidFill>
                  <a:srgbClr val="E5E0DF"/>
                </a:solidFill>
                <a:latin typeface="Inter Bold" panose="02000503000000020004"/>
                <a:ea typeface="Inter Bold" panose="02000503000000020004"/>
                <a:cs typeface="Inter Bold" panose="02000503000000020004"/>
                <a:sym typeface="Inter Bold" panose="02000503000000020004"/>
              </a:rPr>
              <a:t>linear regression</a:t>
            </a:r>
            <a:r>
              <a:rPr lang="en-US" sz="1200">
                <a:solidFill>
                  <a:srgbClr val="E5E0DF"/>
                </a:solidFill>
                <a:latin typeface="Inter" panose="02000503000000020004"/>
                <a:ea typeface="Inter" panose="02000503000000020004"/>
                <a:cs typeface="Inter" panose="02000503000000020004"/>
                <a:sym typeface="Inter" panose="02000503000000020004"/>
              </a:rPr>
              <a:t> computes correlation scores.</a:t>
            </a:r>
            <a:endParaRPr lang="en-US" sz="1200">
              <a:solidFill>
                <a:srgbClr val="E5E0DF"/>
              </a:solidFill>
              <a:latin typeface="Inter" panose="02000503000000020004"/>
              <a:ea typeface="Inter" panose="02000503000000020004"/>
              <a:cs typeface="Inter" panose="02000503000000020004"/>
              <a:sym typeface="Inter" panose="020005030000000200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0">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C0C0C"/>
            </a:solidFill>
          </p:spPr>
        </p:sp>
      </p:grpSp>
      <p:grpSp>
        <p:nvGrpSpPr>
          <p:cNvPr id="4" name="Group 4"/>
          <p:cNvGrpSpPr/>
          <p:nvPr/>
        </p:nvGrpSpPr>
        <p:grpSpPr>
          <a:xfrm rot="0">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272525"/>
            </a:solidFill>
          </p:spPr>
        </p:sp>
      </p:grpSp>
      <p:grpSp>
        <p:nvGrpSpPr>
          <p:cNvPr id="6" name="Group 6"/>
          <p:cNvGrpSpPr/>
          <p:nvPr/>
        </p:nvGrpSpPr>
        <p:grpSpPr>
          <a:xfrm rot="0">
            <a:off x="909933" y="652758"/>
            <a:ext cx="2218287" cy="446932"/>
            <a:chOff x="0" y="0"/>
            <a:chExt cx="2957716" cy="595909"/>
          </a:xfrm>
        </p:grpSpPr>
        <p:sp>
          <p:nvSpPr>
            <p:cNvPr id="7" name="Freeform 7"/>
            <p:cNvSpPr/>
            <p:nvPr/>
          </p:nvSpPr>
          <p:spPr>
            <a:xfrm>
              <a:off x="0" y="0"/>
              <a:ext cx="2957576" cy="595884"/>
            </a:xfrm>
            <a:custGeom>
              <a:avLst/>
              <a:gdLst/>
              <a:ahLst/>
              <a:cxnLst/>
              <a:rect l="l" t="t" r="r" b="b"/>
              <a:pathLst>
                <a:path w="2957576" h="595884">
                  <a:moveTo>
                    <a:pt x="0" y="104648"/>
                  </a:moveTo>
                  <a:cubicBezTo>
                    <a:pt x="0" y="46863"/>
                    <a:pt x="46863" y="0"/>
                    <a:pt x="104648" y="0"/>
                  </a:cubicBezTo>
                  <a:lnTo>
                    <a:pt x="2852928" y="0"/>
                  </a:lnTo>
                  <a:cubicBezTo>
                    <a:pt x="2910713" y="0"/>
                    <a:pt x="2957576" y="46863"/>
                    <a:pt x="2957576" y="104648"/>
                  </a:cubicBezTo>
                  <a:lnTo>
                    <a:pt x="2957576" y="491236"/>
                  </a:lnTo>
                  <a:cubicBezTo>
                    <a:pt x="2957576" y="549021"/>
                    <a:pt x="2910713" y="595884"/>
                    <a:pt x="2852928" y="595884"/>
                  </a:cubicBezTo>
                  <a:lnTo>
                    <a:pt x="104648" y="595884"/>
                  </a:lnTo>
                  <a:cubicBezTo>
                    <a:pt x="46863" y="595884"/>
                    <a:pt x="0" y="549021"/>
                    <a:pt x="0" y="491236"/>
                  </a:cubicBezTo>
                  <a:close/>
                </a:path>
              </a:pathLst>
            </a:custGeom>
            <a:blipFill>
              <a:blip r:embed="rId1">
                <a:alphaModFix amt="0"/>
              </a:blip>
              <a:stretch>
                <a:fillRect t="-46713" r="-4" b="-46717"/>
              </a:stretch>
            </a:blipFill>
            <a:ln w="9526" cap="sq">
              <a:solidFill>
                <a:srgbClr val="2B0AFF"/>
              </a:solidFill>
              <a:prstDash val="solid"/>
              <a:miter/>
            </a:ln>
          </p:spPr>
        </p:sp>
      </p:grpSp>
      <p:sp>
        <p:nvSpPr>
          <p:cNvPr id="8" name="TextBox 8"/>
          <p:cNvSpPr txBox="1"/>
          <p:nvPr/>
        </p:nvSpPr>
        <p:spPr>
          <a:xfrm>
            <a:off x="1061437" y="688029"/>
            <a:ext cx="2829668" cy="328765"/>
          </a:xfrm>
          <a:prstGeom prst="rect">
            <a:avLst/>
          </a:prstGeom>
        </p:spPr>
        <p:txBody>
          <a:bodyPr lIns="0" tIns="0" rIns="0" bIns="0" rtlCol="0" anchor="t">
            <a:spAutoFit/>
          </a:bodyPr>
          <a:lstStyle/>
          <a:p>
            <a:pPr algn="l">
              <a:lnSpc>
                <a:spcPts val="2150"/>
              </a:lnSpc>
            </a:pPr>
            <a:r>
              <a:rPr lang="en-US" sz="1400">
                <a:solidFill>
                  <a:srgbClr val="2B0AFF"/>
                </a:solidFill>
                <a:latin typeface="Inter" panose="02000503000000020004"/>
                <a:ea typeface="Inter" panose="02000503000000020004"/>
                <a:cs typeface="Inter" panose="02000503000000020004"/>
                <a:sym typeface="Inter" panose="02000503000000020004"/>
              </a:rPr>
              <a:t>TECHNOLOGY STACK</a:t>
            </a:r>
            <a:endParaRPr lang="en-US" sz="1400">
              <a:solidFill>
                <a:srgbClr val="2B0AFF"/>
              </a:solidFill>
              <a:latin typeface="Inter" panose="02000503000000020004"/>
              <a:ea typeface="Inter" panose="02000503000000020004"/>
              <a:cs typeface="Inter" panose="02000503000000020004"/>
              <a:sym typeface="Inter" panose="02000503000000020004"/>
            </a:endParaRPr>
          </a:p>
        </p:txBody>
      </p:sp>
      <p:sp>
        <p:nvSpPr>
          <p:cNvPr id="9" name="TextBox 9"/>
          <p:cNvSpPr txBox="1"/>
          <p:nvPr/>
        </p:nvSpPr>
        <p:spPr>
          <a:xfrm>
            <a:off x="914695" y="1150591"/>
            <a:ext cx="12285164" cy="743245"/>
          </a:xfrm>
          <a:prstGeom prst="rect">
            <a:avLst/>
          </a:prstGeom>
        </p:spPr>
        <p:txBody>
          <a:bodyPr lIns="0" tIns="0" rIns="0" bIns="0" rtlCol="0" anchor="t">
            <a:spAutoFit/>
          </a:bodyPr>
          <a:lstStyle/>
          <a:p>
            <a:pPr algn="l">
              <a:lnSpc>
                <a:spcPts val="5615"/>
              </a:lnSpc>
            </a:pPr>
            <a:r>
              <a:rPr lang="en-US" sz="4500" b="1">
                <a:solidFill>
                  <a:srgbClr val="FFFFFF"/>
                </a:solidFill>
                <a:latin typeface="Inter Bold" panose="02000503000000020004"/>
                <a:ea typeface="Inter Bold" panose="02000503000000020004"/>
                <a:cs typeface="Inter Bold" panose="02000503000000020004"/>
                <a:sym typeface="Inter Bold" panose="02000503000000020004"/>
              </a:rPr>
              <a:t>Modern, Open-Source Technology Stack</a:t>
            </a:r>
            <a:endParaRPr lang="en-US" sz="4500" b="1">
              <a:solidFill>
                <a:srgbClr val="FFFFFF"/>
              </a:solidFill>
              <a:latin typeface="Inter Bold" panose="02000503000000020004"/>
              <a:ea typeface="Inter Bold" panose="02000503000000020004"/>
              <a:cs typeface="Inter Bold" panose="02000503000000020004"/>
              <a:sym typeface="Inter Bold" panose="02000503000000020004"/>
            </a:endParaRPr>
          </a:p>
        </p:txBody>
      </p:sp>
      <p:sp>
        <p:nvSpPr>
          <p:cNvPr id="10" name="TextBox 10"/>
          <p:cNvSpPr txBox="1"/>
          <p:nvPr/>
        </p:nvSpPr>
        <p:spPr>
          <a:xfrm>
            <a:off x="914695" y="2152945"/>
            <a:ext cx="16458600" cy="760514"/>
          </a:xfrm>
          <a:prstGeom prst="rect">
            <a:avLst/>
          </a:prstGeom>
        </p:spPr>
        <p:txBody>
          <a:bodyPr lIns="0" tIns="0" rIns="0" bIns="0" rtlCol="0" anchor="t">
            <a:spAutoFit/>
          </a:bodyPr>
          <a:lstStyle/>
          <a:p>
            <a:pPr algn="l">
              <a:lnSpc>
                <a:spcPts val="2765"/>
              </a:lnSpc>
            </a:pPr>
            <a:r>
              <a:rPr lang="en-US" sz="1800">
                <a:solidFill>
                  <a:srgbClr val="E5E0DF"/>
                </a:solidFill>
                <a:latin typeface="Inter" panose="02000503000000020004"/>
                <a:ea typeface="Inter" panose="02000503000000020004"/>
                <a:cs typeface="Inter" panose="02000503000000020004"/>
                <a:sym typeface="Inter" panose="02000503000000020004"/>
              </a:rPr>
              <a:t>The platform is built entirely on </a:t>
            </a:r>
            <a:r>
              <a:rPr lang="en-US" sz="1800" b="1">
                <a:solidFill>
                  <a:srgbClr val="E5E0DF"/>
                </a:solidFill>
                <a:latin typeface="Inter Bold" panose="02000503000000020004"/>
                <a:ea typeface="Inter Bold" panose="02000503000000020004"/>
                <a:cs typeface="Inter Bold" panose="02000503000000020004"/>
                <a:sym typeface="Inter Bold" panose="02000503000000020004"/>
              </a:rPr>
              <a:t>open-source technologies</a:t>
            </a:r>
            <a:r>
              <a:rPr lang="en-US" sz="1800">
                <a:solidFill>
                  <a:srgbClr val="E5E0DF"/>
                </a:solidFill>
                <a:latin typeface="Inter" panose="02000503000000020004"/>
                <a:ea typeface="Inter" panose="02000503000000020004"/>
                <a:cs typeface="Inter" panose="02000503000000020004"/>
                <a:sym typeface="Inter" panose="02000503000000020004"/>
              </a:rPr>
              <a:t> selected for performance, ecosystem maturity, and suitability for data-intensive analytical workloads.</a:t>
            </a:r>
            <a:endParaRPr lang="en-US" sz="1800">
              <a:solidFill>
                <a:srgbClr val="E5E0DF"/>
              </a:solidFill>
              <a:latin typeface="Inter" panose="02000503000000020004"/>
              <a:ea typeface="Inter" panose="02000503000000020004"/>
              <a:cs typeface="Inter" panose="02000503000000020004"/>
              <a:sym typeface="Inter" panose="02000503000000020004"/>
            </a:endParaRPr>
          </a:p>
        </p:txBody>
      </p:sp>
      <p:grpSp>
        <p:nvGrpSpPr>
          <p:cNvPr id="11" name="Group 11"/>
          <p:cNvGrpSpPr/>
          <p:nvPr/>
        </p:nvGrpSpPr>
        <p:grpSpPr>
          <a:xfrm rot="0">
            <a:off x="909933" y="3145784"/>
            <a:ext cx="16468134" cy="3771005"/>
            <a:chOff x="0" y="0"/>
            <a:chExt cx="21957513" cy="5028006"/>
          </a:xfrm>
        </p:grpSpPr>
        <p:sp>
          <p:nvSpPr>
            <p:cNvPr id="12" name="Freeform 12"/>
            <p:cNvSpPr/>
            <p:nvPr/>
          </p:nvSpPr>
          <p:spPr>
            <a:xfrm>
              <a:off x="0" y="0"/>
              <a:ext cx="21957537" cy="5027930"/>
            </a:xfrm>
            <a:custGeom>
              <a:avLst/>
              <a:gdLst/>
              <a:ahLst/>
              <a:cxnLst/>
              <a:rect l="l" t="t" r="r" b="b"/>
              <a:pathLst>
                <a:path w="21957537" h="5027930">
                  <a:moveTo>
                    <a:pt x="0" y="128397"/>
                  </a:moveTo>
                  <a:cubicBezTo>
                    <a:pt x="0" y="57531"/>
                    <a:pt x="57531" y="0"/>
                    <a:pt x="128397" y="0"/>
                  </a:cubicBezTo>
                  <a:lnTo>
                    <a:pt x="21829140" y="0"/>
                  </a:lnTo>
                  <a:cubicBezTo>
                    <a:pt x="21900006" y="0"/>
                    <a:pt x="21957537" y="57531"/>
                    <a:pt x="21957537" y="128397"/>
                  </a:cubicBezTo>
                  <a:lnTo>
                    <a:pt x="21957537" y="4899533"/>
                  </a:lnTo>
                  <a:cubicBezTo>
                    <a:pt x="21957537" y="4970399"/>
                    <a:pt x="21900006" y="5027930"/>
                    <a:pt x="21829140" y="5027930"/>
                  </a:cubicBezTo>
                  <a:lnTo>
                    <a:pt x="128397" y="5027930"/>
                  </a:lnTo>
                  <a:cubicBezTo>
                    <a:pt x="57531" y="5028057"/>
                    <a:pt x="0" y="4970526"/>
                    <a:pt x="0" y="4899533"/>
                  </a:cubicBezTo>
                  <a:close/>
                </a:path>
              </a:pathLst>
            </a:custGeom>
            <a:blipFill>
              <a:blip r:embed="rId1">
                <a:alphaModFix amt="0"/>
              </a:blip>
              <a:stretch>
                <a:fillRect t="-35092" b="-35094"/>
              </a:stretch>
            </a:blipFill>
            <a:ln w="9526" cap="sq">
              <a:solidFill>
                <a:srgbClr val="FFFFFF"/>
              </a:solidFill>
              <a:prstDash val="solid"/>
              <a:miter/>
            </a:ln>
          </p:spPr>
        </p:sp>
      </p:grpSp>
      <p:grpSp>
        <p:nvGrpSpPr>
          <p:cNvPr id="13" name="Group 13"/>
          <p:cNvGrpSpPr/>
          <p:nvPr/>
        </p:nvGrpSpPr>
        <p:grpSpPr>
          <a:xfrm rot="0">
            <a:off x="924220" y="3160071"/>
            <a:ext cx="16439550" cy="623735"/>
            <a:chOff x="0" y="0"/>
            <a:chExt cx="21919400" cy="831647"/>
          </a:xfrm>
        </p:grpSpPr>
        <p:sp>
          <p:nvSpPr>
            <p:cNvPr id="14" name="Freeform 14"/>
            <p:cNvSpPr/>
            <p:nvPr/>
          </p:nvSpPr>
          <p:spPr>
            <a:xfrm>
              <a:off x="0" y="0"/>
              <a:ext cx="21919437" cy="831596"/>
            </a:xfrm>
            <a:custGeom>
              <a:avLst/>
              <a:gdLst/>
              <a:ahLst/>
              <a:cxnLst/>
              <a:rect l="l" t="t" r="r" b="b"/>
              <a:pathLst>
                <a:path w="21919437" h="831596">
                  <a:moveTo>
                    <a:pt x="0" y="0"/>
                  </a:moveTo>
                  <a:lnTo>
                    <a:pt x="21919437" y="0"/>
                  </a:lnTo>
                  <a:lnTo>
                    <a:pt x="21919437" y="831596"/>
                  </a:lnTo>
                  <a:lnTo>
                    <a:pt x="0" y="831596"/>
                  </a:lnTo>
                  <a:close/>
                </a:path>
              </a:pathLst>
            </a:custGeom>
            <a:solidFill>
              <a:srgbClr val="FFFFFF">
                <a:alpha val="0"/>
              </a:srgbClr>
            </a:solidFill>
          </p:spPr>
        </p:sp>
      </p:grpSp>
      <p:sp>
        <p:nvSpPr>
          <p:cNvPr id="15" name="TextBox 15"/>
          <p:cNvSpPr txBox="1"/>
          <p:nvPr/>
        </p:nvSpPr>
        <p:spPr>
          <a:xfrm>
            <a:off x="1152820" y="3238948"/>
            <a:ext cx="5384302" cy="408832"/>
          </a:xfrm>
          <a:prstGeom prst="rect">
            <a:avLst/>
          </a:prstGeom>
        </p:spPr>
        <p:txBody>
          <a:bodyPr lIns="0" tIns="0" rIns="0" bIns="0" rtlCol="0" anchor="t">
            <a:spAutoFit/>
          </a:bodyPr>
          <a:lstStyle/>
          <a:p>
            <a:pPr algn="l">
              <a:lnSpc>
                <a:spcPts val="2765"/>
              </a:lnSpc>
            </a:pPr>
            <a:r>
              <a:rPr lang="en-US" sz="1800" b="1">
                <a:solidFill>
                  <a:srgbClr val="E5E0DF"/>
                </a:solidFill>
                <a:latin typeface="Inter Bold" panose="02000503000000020004"/>
                <a:ea typeface="Inter Bold" panose="02000503000000020004"/>
                <a:cs typeface="Inter Bold" panose="02000503000000020004"/>
                <a:sym typeface="Inter Bold" panose="02000503000000020004"/>
              </a:rPr>
              <a:t>Category</a:t>
            </a:r>
            <a:endParaRPr lang="en-US" sz="1800" b="1">
              <a:solidFill>
                <a:srgbClr val="E5E0DF"/>
              </a:solidFill>
              <a:latin typeface="Inter Bold" panose="02000503000000020004"/>
              <a:ea typeface="Inter Bold" panose="02000503000000020004"/>
              <a:cs typeface="Inter Bold" panose="02000503000000020004"/>
              <a:sym typeface="Inter Bold" panose="02000503000000020004"/>
            </a:endParaRPr>
          </a:p>
        </p:txBody>
      </p:sp>
      <p:sp>
        <p:nvSpPr>
          <p:cNvPr id="16" name="TextBox 16"/>
          <p:cNvSpPr txBox="1"/>
          <p:nvPr/>
        </p:nvSpPr>
        <p:spPr>
          <a:xfrm>
            <a:off x="6089456" y="3238948"/>
            <a:ext cx="11960123" cy="408832"/>
          </a:xfrm>
          <a:prstGeom prst="rect">
            <a:avLst/>
          </a:prstGeom>
        </p:spPr>
        <p:txBody>
          <a:bodyPr lIns="0" tIns="0" rIns="0" bIns="0" rtlCol="0" anchor="t">
            <a:spAutoFit/>
          </a:bodyPr>
          <a:lstStyle/>
          <a:p>
            <a:pPr algn="l">
              <a:lnSpc>
                <a:spcPts val="2765"/>
              </a:lnSpc>
            </a:pPr>
            <a:r>
              <a:rPr lang="en-US" sz="1800" b="1">
                <a:solidFill>
                  <a:srgbClr val="E5E0DF"/>
                </a:solidFill>
                <a:latin typeface="Inter Bold" panose="02000503000000020004"/>
                <a:ea typeface="Inter Bold" panose="02000503000000020004"/>
                <a:cs typeface="Inter Bold" panose="02000503000000020004"/>
                <a:sym typeface="Inter Bold" panose="02000503000000020004"/>
              </a:rPr>
              <a:t>Technology</a:t>
            </a:r>
            <a:endParaRPr lang="en-US" sz="1800" b="1">
              <a:solidFill>
                <a:srgbClr val="E5E0DF"/>
              </a:solidFill>
              <a:latin typeface="Inter Bold" panose="02000503000000020004"/>
              <a:ea typeface="Inter Bold" panose="02000503000000020004"/>
              <a:cs typeface="Inter Bold" panose="02000503000000020004"/>
              <a:sym typeface="Inter Bold" panose="02000503000000020004"/>
            </a:endParaRPr>
          </a:p>
        </p:txBody>
      </p:sp>
      <p:grpSp>
        <p:nvGrpSpPr>
          <p:cNvPr id="17" name="Group 17"/>
          <p:cNvGrpSpPr/>
          <p:nvPr/>
        </p:nvGrpSpPr>
        <p:grpSpPr>
          <a:xfrm rot="0">
            <a:off x="924220" y="3783806"/>
            <a:ext cx="16439550" cy="623735"/>
            <a:chOff x="0" y="0"/>
            <a:chExt cx="21919400" cy="831647"/>
          </a:xfrm>
        </p:grpSpPr>
        <p:sp>
          <p:nvSpPr>
            <p:cNvPr id="18" name="Freeform 18"/>
            <p:cNvSpPr/>
            <p:nvPr/>
          </p:nvSpPr>
          <p:spPr>
            <a:xfrm>
              <a:off x="0" y="0"/>
              <a:ext cx="21919437" cy="831596"/>
            </a:xfrm>
            <a:custGeom>
              <a:avLst/>
              <a:gdLst/>
              <a:ahLst/>
              <a:cxnLst/>
              <a:rect l="l" t="t" r="r" b="b"/>
              <a:pathLst>
                <a:path w="21919437" h="831596">
                  <a:moveTo>
                    <a:pt x="0" y="0"/>
                  </a:moveTo>
                  <a:lnTo>
                    <a:pt x="21919437" y="0"/>
                  </a:lnTo>
                  <a:lnTo>
                    <a:pt x="21919437" y="831596"/>
                  </a:lnTo>
                  <a:lnTo>
                    <a:pt x="0" y="831596"/>
                  </a:lnTo>
                  <a:close/>
                </a:path>
              </a:pathLst>
            </a:custGeom>
            <a:solidFill>
              <a:srgbClr val="000000">
                <a:alpha val="0"/>
              </a:srgbClr>
            </a:solidFill>
          </p:spPr>
        </p:sp>
      </p:grpSp>
      <p:sp>
        <p:nvSpPr>
          <p:cNvPr id="19" name="TextBox 19"/>
          <p:cNvSpPr txBox="1"/>
          <p:nvPr/>
        </p:nvSpPr>
        <p:spPr>
          <a:xfrm>
            <a:off x="1152820" y="3862683"/>
            <a:ext cx="5384302" cy="408832"/>
          </a:xfrm>
          <a:prstGeom prst="rect">
            <a:avLst/>
          </a:prstGeom>
        </p:spPr>
        <p:txBody>
          <a:bodyPr lIns="0" tIns="0" rIns="0" bIns="0" rtlCol="0" anchor="t">
            <a:spAutoFit/>
          </a:bodyPr>
          <a:lstStyle/>
          <a:p>
            <a:pPr algn="l">
              <a:lnSpc>
                <a:spcPts val="2765"/>
              </a:lnSpc>
            </a:pPr>
            <a:r>
              <a:rPr lang="en-US" sz="1800">
                <a:solidFill>
                  <a:srgbClr val="E5E0DF"/>
                </a:solidFill>
                <a:latin typeface="Inter" panose="02000503000000020004"/>
                <a:ea typeface="Inter" panose="02000503000000020004"/>
                <a:cs typeface="Inter" panose="02000503000000020004"/>
                <a:sym typeface="Inter" panose="02000503000000020004"/>
              </a:rPr>
              <a:t>Frontend</a:t>
            </a:r>
            <a:endParaRPr lang="en-US" sz="1800">
              <a:solidFill>
                <a:srgbClr val="E5E0DF"/>
              </a:solidFill>
              <a:latin typeface="Inter" panose="02000503000000020004"/>
              <a:ea typeface="Inter" panose="02000503000000020004"/>
              <a:cs typeface="Inter" panose="02000503000000020004"/>
              <a:sym typeface="Inter" panose="02000503000000020004"/>
            </a:endParaRPr>
          </a:p>
        </p:txBody>
      </p:sp>
      <p:sp>
        <p:nvSpPr>
          <p:cNvPr id="20" name="TextBox 20"/>
          <p:cNvSpPr txBox="1"/>
          <p:nvPr/>
        </p:nvSpPr>
        <p:spPr>
          <a:xfrm>
            <a:off x="6089456" y="3862683"/>
            <a:ext cx="11960123" cy="408832"/>
          </a:xfrm>
          <a:prstGeom prst="rect">
            <a:avLst/>
          </a:prstGeom>
        </p:spPr>
        <p:txBody>
          <a:bodyPr lIns="0" tIns="0" rIns="0" bIns="0" rtlCol="0" anchor="t">
            <a:spAutoFit/>
          </a:bodyPr>
          <a:lstStyle/>
          <a:p>
            <a:pPr algn="l">
              <a:lnSpc>
                <a:spcPts val="2765"/>
              </a:lnSpc>
            </a:pPr>
            <a:r>
              <a:rPr lang="en-US" sz="1800">
                <a:solidFill>
                  <a:srgbClr val="E5E0DF"/>
                </a:solidFill>
                <a:latin typeface="Inter" panose="02000503000000020004"/>
                <a:ea typeface="Inter" panose="02000503000000020004"/>
                <a:cs typeface="Inter" panose="02000503000000020004"/>
                <a:sym typeface="Inter" panose="02000503000000020004"/>
              </a:rPr>
              <a:t>React.js · Recharts</a:t>
            </a:r>
            <a:endParaRPr lang="en-US" sz="1800">
              <a:solidFill>
                <a:srgbClr val="E5E0DF"/>
              </a:solidFill>
              <a:latin typeface="Inter" panose="02000503000000020004"/>
              <a:ea typeface="Inter" panose="02000503000000020004"/>
              <a:cs typeface="Inter" panose="02000503000000020004"/>
              <a:sym typeface="Inter" panose="02000503000000020004"/>
            </a:endParaRPr>
          </a:p>
        </p:txBody>
      </p:sp>
      <p:grpSp>
        <p:nvGrpSpPr>
          <p:cNvPr id="21" name="Group 21"/>
          <p:cNvGrpSpPr/>
          <p:nvPr/>
        </p:nvGrpSpPr>
        <p:grpSpPr>
          <a:xfrm rot="0">
            <a:off x="924220" y="4407541"/>
            <a:ext cx="16439550" cy="623735"/>
            <a:chOff x="0" y="0"/>
            <a:chExt cx="21919400" cy="831647"/>
          </a:xfrm>
        </p:grpSpPr>
        <p:sp>
          <p:nvSpPr>
            <p:cNvPr id="22" name="Freeform 22"/>
            <p:cNvSpPr/>
            <p:nvPr/>
          </p:nvSpPr>
          <p:spPr>
            <a:xfrm>
              <a:off x="0" y="0"/>
              <a:ext cx="21919437" cy="831596"/>
            </a:xfrm>
            <a:custGeom>
              <a:avLst/>
              <a:gdLst/>
              <a:ahLst/>
              <a:cxnLst/>
              <a:rect l="l" t="t" r="r" b="b"/>
              <a:pathLst>
                <a:path w="21919437" h="831596">
                  <a:moveTo>
                    <a:pt x="0" y="0"/>
                  </a:moveTo>
                  <a:lnTo>
                    <a:pt x="21919437" y="0"/>
                  </a:lnTo>
                  <a:lnTo>
                    <a:pt x="21919437" y="831596"/>
                  </a:lnTo>
                  <a:lnTo>
                    <a:pt x="0" y="831596"/>
                  </a:lnTo>
                  <a:close/>
                </a:path>
              </a:pathLst>
            </a:custGeom>
            <a:solidFill>
              <a:srgbClr val="FFFFFF">
                <a:alpha val="0"/>
              </a:srgbClr>
            </a:solidFill>
          </p:spPr>
        </p:sp>
      </p:grpSp>
      <p:sp>
        <p:nvSpPr>
          <p:cNvPr id="23" name="TextBox 23"/>
          <p:cNvSpPr txBox="1"/>
          <p:nvPr/>
        </p:nvSpPr>
        <p:spPr>
          <a:xfrm>
            <a:off x="1152820" y="4486427"/>
            <a:ext cx="5384302" cy="408832"/>
          </a:xfrm>
          <a:prstGeom prst="rect">
            <a:avLst/>
          </a:prstGeom>
        </p:spPr>
        <p:txBody>
          <a:bodyPr lIns="0" tIns="0" rIns="0" bIns="0" rtlCol="0" anchor="t">
            <a:spAutoFit/>
          </a:bodyPr>
          <a:lstStyle/>
          <a:p>
            <a:pPr algn="l">
              <a:lnSpc>
                <a:spcPts val="2765"/>
              </a:lnSpc>
            </a:pPr>
            <a:r>
              <a:rPr lang="en-US" sz="1800">
                <a:solidFill>
                  <a:srgbClr val="E5E0DF"/>
                </a:solidFill>
                <a:latin typeface="Inter" panose="02000503000000020004"/>
                <a:ea typeface="Inter" panose="02000503000000020004"/>
                <a:cs typeface="Inter" panose="02000503000000020004"/>
                <a:sym typeface="Inter" panose="02000503000000020004"/>
              </a:rPr>
              <a:t>Backend</a:t>
            </a:r>
            <a:endParaRPr lang="en-US" sz="1800">
              <a:solidFill>
                <a:srgbClr val="E5E0DF"/>
              </a:solidFill>
              <a:latin typeface="Inter" panose="02000503000000020004"/>
              <a:ea typeface="Inter" panose="02000503000000020004"/>
              <a:cs typeface="Inter" panose="02000503000000020004"/>
              <a:sym typeface="Inter" panose="02000503000000020004"/>
            </a:endParaRPr>
          </a:p>
        </p:txBody>
      </p:sp>
      <p:sp>
        <p:nvSpPr>
          <p:cNvPr id="24" name="TextBox 24"/>
          <p:cNvSpPr txBox="1"/>
          <p:nvPr/>
        </p:nvSpPr>
        <p:spPr>
          <a:xfrm>
            <a:off x="6089456" y="4486427"/>
            <a:ext cx="11960123" cy="408832"/>
          </a:xfrm>
          <a:prstGeom prst="rect">
            <a:avLst/>
          </a:prstGeom>
        </p:spPr>
        <p:txBody>
          <a:bodyPr lIns="0" tIns="0" rIns="0" bIns="0" rtlCol="0" anchor="t">
            <a:spAutoFit/>
          </a:bodyPr>
          <a:lstStyle/>
          <a:p>
            <a:pPr algn="l">
              <a:lnSpc>
                <a:spcPts val="2765"/>
              </a:lnSpc>
            </a:pPr>
            <a:r>
              <a:rPr lang="en-US" sz="1800">
                <a:solidFill>
                  <a:srgbClr val="E5E0DF"/>
                </a:solidFill>
                <a:latin typeface="Inter" panose="02000503000000020004"/>
                <a:ea typeface="Inter" panose="02000503000000020004"/>
                <a:cs typeface="Inter" panose="02000503000000020004"/>
                <a:sym typeface="Inter" panose="02000503000000020004"/>
              </a:rPr>
              <a:t>FastAPI (Python)</a:t>
            </a:r>
            <a:endParaRPr lang="en-US" sz="1800">
              <a:solidFill>
                <a:srgbClr val="E5E0DF"/>
              </a:solidFill>
              <a:latin typeface="Inter" panose="02000503000000020004"/>
              <a:ea typeface="Inter" panose="02000503000000020004"/>
              <a:cs typeface="Inter" panose="02000503000000020004"/>
              <a:sym typeface="Inter" panose="02000503000000020004"/>
            </a:endParaRPr>
          </a:p>
        </p:txBody>
      </p:sp>
      <p:grpSp>
        <p:nvGrpSpPr>
          <p:cNvPr id="25" name="Group 25"/>
          <p:cNvGrpSpPr/>
          <p:nvPr/>
        </p:nvGrpSpPr>
        <p:grpSpPr>
          <a:xfrm rot="0">
            <a:off x="924220" y="5031286"/>
            <a:ext cx="16439550" cy="623735"/>
            <a:chOff x="0" y="0"/>
            <a:chExt cx="21919400" cy="831647"/>
          </a:xfrm>
        </p:grpSpPr>
        <p:sp>
          <p:nvSpPr>
            <p:cNvPr id="26" name="Freeform 26"/>
            <p:cNvSpPr/>
            <p:nvPr/>
          </p:nvSpPr>
          <p:spPr>
            <a:xfrm>
              <a:off x="0" y="0"/>
              <a:ext cx="21919437" cy="831596"/>
            </a:xfrm>
            <a:custGeom>
              <a:avLst/>
              <a:gdLst/>
              <a:ahLst/>
              <a:cxnLst/>
              <a:rect l="l" t="t" r="r" b="b"/>
              <a:pathLst>
                <a:path w="21919437" h="831596">
                  <a:moveTo>
                    <a:pt x="0" y="0"/>
                  </a:moveTo>
                  <a:lnTo>
                    <a:pt x="21919437" y="0"/>
                  </a:lnTo>
                  <a:lnTo>
                    <a:pt x="21919437" y="831596"/>
                  </a:lnTo>
                  <a:lnTo>
                    <a:pt x="0" y="831596"/>
                  </a:lnTo>
                  <a:close/>
                </a:path>
              </a:pathLst>
            </a:custGeom>
            <a:solidFill>
              <a:srgbClr val="000000">
                <a:alpha val="0"/>
              </a:srgbClr>
            </a:solidFill>
          </p:spPr>
        </p:sp>
      </p:grpSp>
      <p:sp>
        <p:nvSpPr>
          <p:cNvPr id="27" name="TextBox 27"/>
          <p:cNvSpPr txBox="1"/>
          <p:nvPr/>
        </p:nvSpPr>
        <p:spPr>
          <a:xfrm>
            <a:off x="1152820" y="5110162"/>
            <a:ext cx="5384302" cy="408832"/>
          </a:xfrm>
          <a:prstGeom prst="rect">
            <a:avLst/>
          </a:prstGeom>
        </p:spPr>
        <p:txBody>
          <a:bodyPr lIns="0" tIns="0" rIns="0" bIns="0" rtlCol="0" anchor="t">
            <a:spAutoFit/>
          </a:bodyPr>
          <a:lstStyle/>
          <a:p>
            <a:pPr algn="l">
              <a:lnSpc>
                <a:spcPts val="2765"/>
              </a:lnSpc>
            </a:pPr>
            <a:r>
              <a:rPr lang="en-US" sz="1800">
                <a:solidFill>
                  <a:srgbClr val="E5E0DF"/>
                </a:solidFill>
                <a:latin typeface="Inter" panose="02000503000000020004"/>
                <a:ea typeface="Inter" panose="02000503000000020004"/>
                <a:cs typeface="Inter" panose="02000503000000020004"/>
                <a:sym typeface="Inter" panose="02000503000000020004"/>
              </a:rPr>
              <a:t>Data Processing</a:t>
            </a:r>
            <a:endParaRPr lang="en-US" sz="1800">
              <a:solidFill>
                <a:srgbClr val="E5E0DF"/>
              </a:solidFill>
              <a:latin typeface="Inter" panose="02000503000000020004"/>
              <a:ea typeface="Inter" panose="02000503000000020004"/>
              <a:cs typeface="Inter" panose="02000503000000020004"/>
              <a:sym typeface="Inter" panose="02000503000000020004"/>
            </a:endParaRPr>
          </a:p>
        </p:txBody>
      </p:sp>
      <p:sp>
        <p:nvSpPr>
          <p:cNvPr id="28" name="TextBox 28"/>
          <p:cNvSpPr txBox="1"/>
          <p:nvPr/>
        </p:nvSpPr>
        <p:spPr>
          <a:xfrm>
            <a:off x="6089456" y="5110162"/>
            <a:ext cx="11960123" cy="408832"/>
          </a:xfrm>
          <a:prstGeom prst="rect">
            <a:avLst/>
          </a:prstGeom>
        </p:spPr>
        <p:txBody>
          <a:bodyPr lIns="0" tIns="0" rIns="0" bIns="0" rtlCol="0" anchor="t">
            <a:spAutoFit/>
          </a:bodyPr>
          <a:lstStyle/>
          <a:p>
            <a:pPr algn="l">
              <a:lnSpc>
                <a:spcPts val="2765"/>
              </a:lnSpc>
            </a:pPr>
            <a:r>
              <a:rPr lang="en-US" sz="1800">
                <a:solidFill>
                  <a:srgbClr val="E5E0DF"/>
                </a:solidFill>
                <a:latin typeface="Inter" panose="02000503000000020004"/>
                <a:ea typeface="Inter" panose="02000503000000020004"/>
                <a:cs typeface="Inter" panose="02000503000000020004"/>
                <a:sym typeface="Inter" panose="02000503000000020004"/>
              </a:rPr>
              <a:t>Pandas</a:t>
            </a:r>
            <a:endParaRPr lang="en-US" sz="1800">
              <a:solidFill>
                <a:srgbClr val="E5E0DF"/>
              </a:solidFill>
              <a:latin typeface="Inter" panose="02000503000000020004"/>
              <a:ea typeface="Inter" panose="02000503000000020004"/>
              <a:cs typeface="Inter" panose="02000503000000020004"/>
              <a:sym typeface="Inter" panose="02000503000000020004"/>
            </a:endParaRPr>
          </a:p>
        </p:txBody>
      </p:sp>
      <p:grpSp>
        <p:nvGrpSpPr>
          <p:cNvPr id="29" name="Group 29"/>
          <p:cNvGrpSpPr/>
          <p:nvPr/>
        </p:nvGrpSpPr>
        <p:grpSpPr>
          <a:xfrm rot="0">
            <a:off x="924220" y="5655021"/>
            <a:ext cx="16439550" cy="623735"/>
            <a:chOff x="0" y="0"/>
            <a:chExt cx="21919400" cy="831647"/>
          </a:xfrm>
        </p:grpSpPr>
        <p:sp>
          <p:nvSpPr>
            <p:cNvPr id="30" name="Freeform 30"/>
            <p:cNvSpPr/>
            <p:nvPr/>
          </p:nvSpPr>
          <p:spPr>
            <a:xfrm>
              <a:off x="0" y="0"/>
              <a:ext cx="21919437" cy="831596"/>
            </a:xfrm>
            <a:custGeom>
              <a:avLst/>
              <a:gdLst/>
              <a:ahLst/>
              <a:cxnLst/>
              <a:rect l="l" t="t" r="r" b="b"/>
              <a:pathLst>
                <a:path w="21919437" h="831596">
                  <a:moveTo>
                    <a:pt x="0" y="0"/>
                  </a:moveTo>
                  <a:lnTo>
                    <a:pt x="21919437" y="0"/>
                  </a:lnTo>
                  <a:lnTo>
                    <a:pt x="21919437" y="831596"/>
                  </a:lnTo>
                  <a:lnTo>
                    <a:pt x="0" y="831596"/>
                  </a:lnTo>
                  <a:close/>
                </a:path>
              </a:pathLst>
            </a:custGeom>
            <a:solidFill>
              <a:srgbClr val="FFFFFF">
                <a:alpha val="0"/>
              </a:srgbClr>
            </a:solidFill>
          </p:spPr>
        </p:sp>
      </p:grpSp>
      <p:sp>
        <p:nvSpPr>
          <p:cNvPr id="31" name="TextBox 31"/>
          <p:cNvSpPr txBox="1"/>
          <p:nvPr/>
        </p:nvSpPr>
        <p:spPr>
          <a:xfrm>
            <a:off x="1152820" y="5733898"/>
            <a:ext cx="5384302" cy="408832"/>
          </a:xfrm>
          <a:prstGeom prst="rect">
            <a:avLst/>
          </a:prstGeom>
        </p:spPr>
        <p:txBody>
          <a:bodyPr lIns="0" tIns="0" rIns="0" bIns="0" rtlCol="0" anchor="t">
            <a:spAutoFit/>
          </a:bodyPr>
          <a:lstStyle/>
          <a:p>
            <a:pPr algn="l">
              <a:lnSpc>
                <a:spcPts val="2765"/>
              </a:lnSpc>
            </a:pPr>
            <a:r>
              <a:rPr lang="en-US" sz="1800">
                <a:solidFill>
                  <a:srgbClr val="E5E0DF"/>
                </a:solidFill>
                <a:latin typeface="Inter" panose="02000503000000020004"/>
                <a:ea typeface="Inter" panose="02000503000000020004"/>
                <a:cs typeface="Inter" panose="02000503000000020004"/>
                <a:sym typeface="Inter" panose="02000503000000020004"/>
              </a:rPr>
              <a:t>Machine Learning</a:t>
            </a:r>
            <a:endParaRPr lang="en-US" sz="1800">
              <a:solidFill>
                <a:srgbClr val="E5E0DF"/>
              </a:solidFill>
              <a:latin typeface="Inter" panose="02000503000000020004"/>
              <a:ea typeface="Inter" panose="02000503000000020004"/>
              <a:cs typeface="Inter" panose="02000503000000020004"/>
              <a:sym typeface="Inter" panose="02000503000000020004"/>
            </a:endParaRPr>
          </a:p>
        </p:txBody>
      </p:sp>
      <p:sp>
        <p:nvSpPr>
          <p:cNvPr id="32" name="TextBox 32"/>
          <p:cNvSpPr txBox="1"/>
          <p:nvPr/>
        </p:nvSpPr>
        <p:spPr>
          <a:xfrm>
            <a:off x="6089456" y="5733898"/>
            <a:ext cx="11960123" cy="354330"/>
          </a:xfrm>
          <a:prstGeom prst="rect">
            <a:avLst/>
          </a:prstGeom>
        </p:spPr>
        <p:txBody>
          <a:bodyPr lIns="0" tIns="0" rIns="0" bIns="0" rtlCol="0" anchor="t">
            <a:spAutoFit/>
          </a:bodyPr>
          <a:lstStyle/>
          <a:p>
            <a:pPr algn="l">
              <a:lnSpc>
                <a:spcPts val="2765"/>
              </a:lnSpc>
            </a:pPr>
            <a:r>
              <a:rPr lang="en-US" sz="1800">
                <a:solidFill>
                  <a:srgbClr val="E5E0DF"/>
                </a:solidFill>
                <a:latin typeface="Inter" panose="02000503000000020004"/>
                <a:ea typeface="Inter" panose="02000503000000020004"/>
                <a:cs typeface="Inter" panose="02000503000000020004"/>
                <a:sym typeface="Inter" panose="02000503000000020004"/>
              </a:rPr>
              <a:t>XGBoost , Random Forest , Gradient Boost , Monte Carlo Simulation, Shap Explainability  </a:t>
            </a:r>
            <a:endParaRPr lang="en-US" sz="1800">
              <a:solidFill>
                <a:srgbClr val="E5E0DF"/>
              </a:solidFill>
              <a:latin typeface="Inter" panose="02000503000000020004"/>
              <a:ea typeface="Inter" panose="02000503000000020004"/>
              <a:cs typeface="Inter" panose="02000503000000020004"/>
              <a:sym typeface="Inter" panose="02000503000000020004"/>
            </a:endParaRPr>
          </a:p>
        </p:txBody>
      </p:sp>
      <p:grpSp>
        <p:nvGrpSpPr>
          <p:cNvPr id="33" name="Group 33"/>
          <p:cNvGrpSpPr/>
          <p:nvPr/>
        </p:nvGrpSpPr>
        <p:grpSpPr>
          <a:xfrm rot="0">
            <a:off x="924220" y="6278756"/>
            <a:ext cx="16439550" cy="623735"/>
            <a:chOff x="0" y="0"/>
            <a:chExt cx="21919400" cy="831647"/>
          </a:xfrm>
        </p:grpSpPr>
        <p:sp>
          <p:nvSpPr>
            <p:cNvPr id="34" name="Freeform 34"/>
            <p:cNvSpPr/>
            <p:nvPr/>
          </p:nvSpPr>
          <p:spPr>
            <a:xfrm>
              <a:off x="0" y="0"/>
              <a:ext cx="21919437" cy="831596"/>
            </a:xfrm>
            <a:custGeom>
              <a:avLst/>
              <a:gdLst/>
              <a:ahLst/>
              <a:cxnLst/>
              <a:rect l="l" t="t" r="r" b="b"/>
              <a:pathLst>
                <a:path w="21919437" h="831596">
                  <a:moveTo>
                    <a:pt x="0" y="0"/>
                  </a:moveTo>
                  <a:lnTo>
                    <a:pt x="21919437" y="0"/>
                  </a:lnTo>
                  <a:lnTo>
                    <a:pt x="21919437" y="831596"/>
                  </a:lnTo>
                  <a:lnTo>
                    <a:pt x="0" y="831596"/>
                  </a:lnTo>
                  <a:close/>
                </a:path>
              </a:pathLst>
            </a:custGeom>
            <a:solidFill>
              <a:srgbClr val="000000">
                <a:alpha val="0"/>
              </a:srgbClr>
            </a:solidFill>
          </p:spPr>
        </p:sp>
      </p:grpSp>
      <p:sp>
        <p:nvSpPr>
          <p:cNvPr id="35" name="TextBox 35"/>
          <p:cNvSpPr txBox="1"/>
          <p:nvPr/>
        </p:nvSpPr>
        <p:spPr>
          <a:xfrm>
            <a:off x="1152820" y="6357642"/>
            <a:ext cx="5384302" cy="408832"/>
          </a:xfrm>
          <a:prstGeom prst="rect">
            <a:avLst/>
          </a:prstGeom>
        </p:spPr>
        <p:txBody>
          <a:bodyPr lIns="0" tIns="0" rIns="0" bIns="0" rtlCol="0" anchor="t">
            <a:spAutoFit/>
          </a:bodyPr>
          <a:lstStyle/>
          <a:p>
            <a:pPr algn="l">
              <a:lnSpc>
                <a:spcPts val="2765"/>
              </a:lnSpc>
            </a:pPr>
            <a:r>
              <a:rPr lang="en-US" sz="1800">
                <a:solidFill>
                  <a:srgbClr val="E5E0DF"/>
                </a:solidFill>
                <a:latin typeface="Inter" panose="02000503000000020004"/>
                <a:ea typeface="Inter" panose="02000503000000020004"/>
                <a:cs typeface="Inter" panose="02000503000000020004"/>
                <a:sym typeface="Inter" panose="02000503000000020004"/>
              </a:rPr>
              <a:t>Version Control</a:t>
            </a:r>
            <a:endParaRPr lang="en-US" sz="1800">
              <a:solidFill>
                <a:srgbClr val="E5E0DF"/>
              </a:solidFill>
              <a:latin typeface="Inter" panose="02000503000000020004"/>
              <a:ea typeface="Inter" panose="02000503000000020004"/>
              <a:cs typeface="Inter" panose="02000503000000020004"/>
              <a:sym typeface="Inter" panose="02000503000000020004"/>
            </a:endParaRPr>
          </a:p>
        </p:txBody>
      </p:sp>
      <p:sp>
        <p:nvSpPr>
          <p:cNvPr id="36" name="TextBox 36"/>
          <p:cNvSpPr txBox="1"/>
          <p:nvPr/>
        </p:nvSpPr>
        <p:spPr>
          <a:xfrm>
            <a:off x="6089456" y="6357642"/>
            <a:ext cx="11960123" cy="408832"/>
          </a:xfrm>
          <a:prstGeom prst="rect">
            <a:avLst/>
          </a:prstGeom>
        </p:spPr>
        <p:txBody>
          <a:bodyPr lIns="0" tIns="0" rIns="0" bIns="0" rtlCol="0" anchor="t">
            <a:spAutoFit/>
          </a:bodyPr>
          <a:lstStyle/>
          <a:p>
            <a:pPr algn="l">
              <a:lnSpc>
                <a:spcPts val="2765"/>
              </a:lnSpc>
            </a:pPr>
            <a:r>
              <a:rPr lang="en-US" sz="1800">
                <a:solidFill>
                  <a:srgbClr val="E5E0DF"/>
                </a:solidFill>
                <a:latin typeface="Inter" panose="02000503000000020004"/>
                <a:ea typeface="Inter" panose="02000503000000020004"/>
                <a:cs typeface="Inter" panose="02000503000000020004"/>
                <a:sym typeface="Inter" panose="02000503000000020004"/>
              </a:rPr>
              <a:t>GitHub</a:t>
            </a:r>
            <a:endParaRPr lang="en-US" sz="1800">
              <a:solidFill>
                <a:srgbClr val="E5E0DF"/>
              </a:solidFill>
              <a:latin typeface="Inter" panose="02000503000000020004"/>
              <a:ea typeface="Inter" panose="02000503000000020004"/>
              <a:cs typeface="Inter" panose="02000503000000020004"/>
              <a:sym typeface="Inter" panose="02000503000000020004"/>
            </a:endParaRPr>
          </a:p>
        </p:txBody>
      </p:sp>
      <p:grpSp>
        <p:nvGrpSpPr>
          <p:cNvPr id="37" name="Group 37"/>
          <p:cNvGrpSpPr/>
          <p:nvPr/>
        </p:nvGrpSpPr>
        <p:grpSpPr>
          <a:xfrm rot="0">
            <a:off x="750094" y="7149113"/>
            <a:ext cx="8279606" cy="2480224"/>
            <a:chOff x="0" y="0"/>
            <a:chExt cx="11039475" cy="3306966"/>
          </a:xfrm>
        </p:grpSpPr>
        <p:sp>
          <p:nvSpPr>
            <p:cNvPr id="38" name="Freeform 38"/>
            <p:cNvSpPr/>
            <p:nvPr/>
          </p:nvSpPr>
          <p:spPr>
            <a:xfrm>
              <a:off x="0" y="0"/>
              <a:ext cx="11039475" cy="3306953"/>
            </a:xfrm>
            <a:custGeom>
              <a:avLst/>
              <a:gdLst/>
              <a:ahLst/>
              <a:cxnLst/>
              <a:rect l="l" t="t" r="r" b="b"/>
              <a:pathLst>
                <a:path w="11039475" h="3306953">
                  <a:moveTo>
                    <a:pt x="0" y="219583"/>
                  </a:moveTo>
                  <a:cubicBezTo>
                    <a:pt x="0" y="98298"/>
                    <a:pt x="98298" y="0"/>
                    <a:pt x="219583" y="0"/>
                  </a:cubicBezTo>
                  <a:lnTo>
                    <a:pt x="10819892" y="0"/>
                  </a:lnTo>
                  <a:cubicBezTo>
                    <a:pt x="10941177" y="0"/>
                    <a:pt x="11039475" y="98298"/>
                    <a:pt x="11039475" y="219583"/>
                  </a:cubicBezTo>
                  <a:lnTo>
                    <a:pt x="11039475" y="3087370"/>
                  </a:lnTo>
                  <a:cubicBezTo>
                    <a:pt x="11039475" y="3208655"/>
                    <a:pt x="10941177" y="3306953"/>
                    <a:pt x="10819892" y="3306953"/>
                  </a:cubicBezTo>
                  <a:lnTo>
                    <a:pt x="219583" y="3306953"/>
                  </a:lnTo>
                  <a:cubicBezTo>
                    <a:pt x="98298" y="3306953"/>
                    <a:pt x="0" y="3208655"/>
                    <a:pt x="0" y="3087370"/>
                  </a:cubicBezTo>
                  <a:close/>
                </a:path>
              </a:pathLst>
            </a:custGeom>
            <a:solidFill>
              <a:srgbClr val="2B0AFF"/>
            </a:solidFill>
          </p:spPr>
        </p:sp>
      </p:grpSp>
      <p:sp>
        <p:nvSpPr>
          <p:cNvPr id="39" name="TextBox 39"/>
          <p:cNvSpPr txBox="1"/>
          <p:nvPr/>
        </p:nvSpPr>
        <p:spPr>
          <a:xfrm>
            <a:off x="978694" y="7350319"/>
            <a:ext cx="3773243" cy="366865"/>
          </a:xfrm>
          <a:prstGeom prst="rect">
            <a:avLst/>
          </a:prstGeom>
        </p:spPr>
        <p:txBody>
          <a:bodyPr lIns="0" tIns="0" rIns="0" bIns="0" rtlCol="0" anchor="t">
            <a:spAutoFit/>
          </a:bodyPr>
          <a:lstStyle/>
          <a:p>
            <a:pPr algn="l">
              <a:lnSpc>
                <a:spcPts val="2745"/>
              </a:lnSpc>
            </a:pPr>
            <a:r>
              <a:rPr lang="en-US" sz="2200" b="1">
                <a:solidFill>
                  <a:srgbClr val="FFFFFF"/>
                </a:solidFill>
                <a:latin typeface="Inter Bold" panose="02000503000000020004"/>
                <a:ea typeface="Inter Bold" panose="02000503000000020004"/>
                <a:cs typeface="Inter Bold" panose="02000503000000020004"/>
                <a:sym typeface="Inter Bold" panose="02000503000000020004"/>
              </a:rPr>
              <a:t>Why This Stack?</a:t>
            </a:r>
            <a:endParaRPr lang="en-US" sz="2200" b="1">
              <a:solidFill>
                <a:srgbClr val="FFFFFF"/>
              </a:solidFill>
              <a:latin typeface="Inter Bold" panose="02000503000000020004"/>
              <a:ea typeface="Inter Bold" panose="02000503000000020004"/>
              <a:cs typeface="Inter Bold" panose="02000503000000020004"/>
              <a:sym typeface="Inter Bold" panose="02000503000000020004"/>
            </a:endParaRPr>
          </a:p>
        </p:txBody>
      </p:sp>
      <p:sp>
        <p:nvSpPr>
          <p:cNvPr id="40" name="TextBox 40"/>
          <p:cNvSpPr txBox="1"/>
          <p:nvPr/>
        </p:nvSpPr>
        <p:spPr>
          <a:xfrm>
            <a:off x="978694" y="7870774"/>
            <a:ext cx="7822406" cy="1112196"/>
          </a:xfrm>
          <a:prstGeom prst="rect">
            <a:avLst/>
          </a:prstGeom>
        </p:spPr>
        <p:txBody>
          <a:bodyPr lIns="0" tIns="0" rIns="0" bIns="0" rtlCol="0" anchor="t">
            <a:spAutoFit/>
          </a:bodyPr>
          <a:lstStyle/>
          <a:p>
            <a:pPr algn="l">
              <a:lnSpc>
                <a:spcPts val="2765"/>
              </a:lnSpc>
            </a:pPr>
            <a:r>
              <a:rPr lang="en-US" sz="1800">
                <a:solidFill>
                  <a:srgbClr val="E5E0DF"/>
                </a:solidFill>
                <a:latin typeface="Inter" panose="02000503000000020004"/>
                <a:ea typeface="Inter" panose="02000503000000020004"/>
                <a:cs typeface="Inter" panose="02000503000000020004"/>
                <a:sym typeface="Inter" panose="02000503000000020004"/>
              </a:rPr>
              <a:t>FastAPI offers high-performance async capabilities ideal for analytical workloads. React and Recharts provide a polished, interactive frontend. Pandas and statistical methods ensure rigorous, reproducible analysis.</a:t>
            </a:r>
            <a:endParaRPr lang="en-US" sz="1800">
              <a:solidFill>
                <a:srgbClr val="E5E0DF"/>
              </a:solidFill>
              <a:latin typeface="Inter" panose="02000503000000020004"/>
              <a:ea typeface="Inter" panose="02000503000000020004"/>
              <a:cs typeface="Inter" panose="02000503000000020004"/>
              <a:sym typeface="Inter" panose="02000503000000020004"/>
            </a:endParaRPr>
          </a:p>
        </p:txBody>
      </p:sp>
      <p:sp>
        <p:nvSpPr>
          <p:cNvPr id="41" name="TextBox 41"/>
          <p:cNvSpPr txBox="1"/>
          <p:nvPr/>
        </p:nvSpPr>
        <p:spPr>
          <a:xfrm>
            <a:off x="9432427" y="7350319"/>
            <a:ext cx="3773243" cy="366865"/>
          </a:xfrm>
          <a:prstGeom prst="rect">
            <a:avLst/>
          </a:prstGeom>
        </p:spPr>
        <p:txBody>
          <a:bodyPr lIns="0" tIns="0" rIns="0" bIns="0" rtlCol="0" anchor="t">
            <a:spAutoFit/>
          </a:bodyPr>
          <a:lstStyle/>
          <a:p>
            <a:pPr algn="l">
              <a:lnSpc>
                <a:spcPts val="2745"/>
              </a:lnSpc>
            </a:pPr>
            <a:r>
              <a:rPr lang="en-US" sz="2200" b="1">
                <a:solidFill>
                  <a:srgbClr val="FFFFFF"/>
                </a:solidFill>
                <a:latin typeface="Inter Bold" panose="02000503000000020004"/>
                <a:ea typeface="Inter Bold" panose="02000503000000020004"/>
                <a:cs typeface="Inter Bold" panose="02000503000000020004"/>
                <a:sym typeface="Inter Bold" panose="02000503000000020004"/>
              </a:rPr>
              <a:t>Design Principles</a:t>
            </a:r>
            <a:endParaRPr lang="en-US" sz="2200" b="1">
              <a:solidFill>
                <a:srgbClr val="FFFFFF"/>
              </a:solidFill>
              <a:latin typeface="Inter Bold" panose="02000503000000020004"/>
              <a:ea typeface="Inter Bold" panose="02000503000000020004"/>
              <a:cs typeface="Inter Bold" panose="02000503000000020004"/>
              <a:sym typeface="Inter Bold" panose="02000503000000020004"/>
            </a:endParaRPr>
          </a:p>
        </p:txBody>
      </p:sp>
      <p:sp>
        <p:nvSpPr>
          <p:cNvPr id="42" name="TextBox 42"/>
          <p:cNvSpPr txBox="1"/>
          <p:nvPr/>
        </p:nvSpPr>
        <p:spPr>
          <a:xfrm>
            <a:off x="9432427" y="7870774"/>
            <a:ext cx="7950394" cy="1684887"/>
          </a:xfrm>
          <a:prstGeom prst="rect">
            <a:avLst/>
          </a:prstGeom>
        </p:spPr>
        <p:txBody>
          <a:bodyPr lIns="0" tIns="0" rIns="0" bIns="0" rtlCol="0" anchor="t">
            <a:spAutoFit/>
          </a:bodyPr>
          <a:lstStyle/>
          <a:p>
            <a:pPr marL="434340" lvl="1" indent="-217170" algn="l">
              <a:lnSpc>
                <a:spcPts val="2765"/>
              </a:lnSpc>
              <a:buFont typeface="Arial" panose="020B0604020202020204"/>
              <a:buChar char="•"/>
            </a:pPr>
            <a:r>
              <a:rPr lang="en-US" sz="1800">
                <a:solidFill>
                  <a:srgbClr val="E5E0DF"/>
                </a:solidFill>
                <a:latin typeface="Inter" panose="02000503000000020004"/>
                <a:ea typeface="Inter" panose="02000503000000020004"/>
                <a:cs typeface="Inter" panose="02000503000000020004"/>
                <a:sym typeface="Inter" panose="02000503000000020004"/>
              </a:rPr>
              <a:t>Modular architecture for independent component scaling</a:t>
            </a:r>
            <a:endParaRPr lang="en-US" sz="1800">
              <a:solidFill>
                <a:srgbClr val="E5E0DF"/>
              </a:solidFill>
              <a:latin typeface="Inter" panose="02000503000000020004"/>
              <a:ea typeface="Inter" panose="02000503000000020004"/>
              <a:cs typeface="Inter" panose="02000503000000020004"/>
              <a:sym typeface="Inter" panose="02000503000000020004"/>
            </a:endParaRPr>
          </a:p>
          <a:p>
            <a:pPr marL="434340" lvl="1" indent="-217170" algn="l">
              <a:lnSpc>
                <a:spcPts val="2765"/>
              </a:lnSpc>
              <a:buFont typeface="Arial" panose="020B0604020202020204"/>
              <a:buChar char="•"/>
            </a:pPr>
            <a:r>
              <a:rPr lang="en-US" sz="1800">
                <a:solidFill>
                  <a:srgbClr val="E5E0DF"/>
                </a:solidFill>
                <a:latin typeface="Inter" panose="02000503000000020004"/>
                <a:ea typeface="Inter" panose="02000503000000020004"/>
                <a:cs typeface="Inter" panose="02000503000000020004"/>
                <a:sym typeface="Inter" panose="02000503000000020004"/>
              </a:rPr>
              <a:t>RESTful API design for clean frontend-backend separation</a:t>
            </a:r>
            <a:endParaRPr lang="en-US" sz="1800">
              <a:solidFill>
                <a:srgbClr val="E5E0DF"/>
              </a:solidFill>
              <a:latin typeface="Inter" panose="02000503000000020004"/>
              <a:ea typeface="Inter" panose="02000503000000020004"/>
              <a:cs typeface="Inter" panose="02000503000000020004"/>
              <a:sym typeface="Inter" panose="02000503000000020004"/>
            </a:endParaRPr>
          </a:p>
          <a:p>
            <a:pPr marL="434340" lvl="1" indent="-217170" algn="l">
              <a:lnSpc>
                <a:spcPts val="2765"/>
              </a:lnSpc>
              <a:buFont typeface="Arial" panose="020B0604020202020204"/>
              <a:buChar char="•"/>
            </a:pPr>
            <a:r>
              <a:rPr lang="en-US" sz="1800">
                <a:solidFill>
                  <a:srgbClr val="E5E0DF"/>
                </a:solidFill>
                <a:latin typeface="Inter" panose="02000503000000020004"/>
                <a:ea typeface="Inter" panose="02000503000000020004"/>
                <a:cs typeface="Inter" panose="02000503000000020004"/>
                <a:sym typeface="Inter" panose="02000503000000020004"/>
              </a:rPr>
              <a:t>Statistically rigorous analytical methods</a:t>
            </a:r>
            <a:endParaRPr lang="en-US" sz="1800">
              <a:solidFill>
                <a:srgbClr val="E5E0DF"/>
              </a:solidFill>
              <a:latin typeface="Inter" panose="02000503000000020004"/>
              <a:ea typeface="Inter" panose="02000503000000020004"/>
              <a:cs typeface="Inter" panose="02000503000000020004"/>
              <a:sym typeface="Inter" panose="02000503000000020004"/>
            </a:endParaRPr>
          </a:p>
          <a:p>
            <a:pPr marL="434340" lvl="1" indent="-217170" algn="l">
              <a:lnSpc>
                <a:spcPts val="2765"/>
              </a:lnSpc>
              <a:buFont typeface="Arial" panose="020B0604020202020204"/>
              <a:buChar char="•"/>
            </a:pPr>
            <a:r>
              <a:rPr lang="en-US" sz="1800">
                <a:solidFill>
                  <a:srgbClr val="E5E0DF"/>
                </a:solidFill>
                <a:latin typeface="Inter" panose="02000503000000020004"/>
                <a:ea typeface="Inter" panose="02000503000000020004"/>
                <a:cs typeface="Inter" panose="02000503000000020004"/>
                <a:sym typeface="Inter" panose="02000503000000020004"/>
              </a:rPr>
              <a:t>Fully open-source and reproducible</a:t>
            </a:r>
            <a:endParaRPr lang="en-US" sz="1800">
              <a:solidFill>
                <a:srgbClr val="E5E0DF"/>
              </a:solidFill>
              <a:latin typeface="Inter" panose="02000503000000020004"/>
              <a:ea typeface="Inter" panose="02000503000000020004"/>
              <a:cs typeface="Inter" panose="02000503000000020004"/>
              <a:sym typeface="Inter" panose="020005030000000200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0">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C0C0C"/>
            </a:solidFill>
          </p:spPr>
        </p:sp>
      </p:grpSp>
      <p:grpSp>
        <p:nvGrpSpPr>
          <p:cNvPr id="4" name="Group 4"/>
          <p:cNvGrpSpPr/>
          <p:nvPr/>
        </p:nvGrpSpPr>
        <p:grpSpPr>
          <a:xfrm rot="0">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272525"/>
            </a:solidFill>
          </p:spPr>
        </p:sp>
      </p:grpSp>
      <p:grpSp>
        <p:nvGrpSpPr>
          <p:cNvPr id="6" name="Group 6"/>
          <p:cNvGrpSpPr/>
          <p:nvPr/>
        </p:nvGrpSpPr>
        <p:grpSpPr>
          <a:xfrm rot="0">
            <a:off x="3484064" y="394840"/>
            <a:ext cx="1440504" cy="259404"/>
            <a:chOff x="0" y="0"/>
            <a:chExt cx="1920672" cy="345872"/>
          </a:xfrm>
        </p:grpSpPr>
        <p:sp>
          <p:nvSpPr>
            <p:cNvPr id="7" name="Freeform 7"/>
            <p:cNvSpPr/>
            <p:nvPr/>
          </p:nvSpPr>
          <p:spPr>
            <a:xfrm>
              <a:off x="0" y="0"/>
              <a:ext cx="1920621" cy="345821"/>
            </a:xfrm>
            <a:custGeom>
              <a:avLst/>
              <a:gdLst/>
              <a:ahLst/>
              <a:cxnLst/>
              <a:rect l="l" t="t" r="r" b="b"/>
              <a:pathLst>
                <a:path w="1920621" h="345821">
                  <a:moveTo>
                    <a:pt x="0" y="66675"/>
                  </a:moveTo>
                  <a:cubicBezTo>
                    <a:pt x="0" y="29845"/>
                    <a:pt x="29845" y="0"/>
                    <a:pt x="66675" y="0"/>
                  </a:cubicBezTo>
                  <a:lnTo>
                    <a:pt x="1853946" y="0"/>
                  </a:lnTo>
                  <a:cubicBezTo>
                    <a:pt x="1890776" y="0"/>
                    <a:pt x="1920621" y="29845"/>
                    <a:pt x="1920621" y="66675"/>
                  </a:cubicBezTo>
                  <a:lnTo>
                    <a:pt x="1920621" y="279146"/>
                  </a:lnTo>
                  <a:cubicBezTo>
                    <a:pt x="1920621" y="315976"/>
                    <a:pt x="1890776" y="345821"/>
                    <a:pt x="1853946" y="345821"/>
                  </a:cubicBezTo>
                  <a:lnTo>
                    <a:pt x="66675" y="345821"/>
                  </a:lnTo>
                  <a:cubicBezTo>
                    <a:pt x="29845" y="345821"/>
                    <a:pt x="0" y="315976"/>
                    <a:pt x="0" y="279146"/>
                  </a:cubicBezTo>
                  <a:close/>
                </a:path>
              </a:pathLst>
            </a:custGeom>
            <a:blipFill>
              <a:blip r:embed="rId1">
                <a:alphaModFix amt="0"/>
              </a:blip>
              <a:stretch>
                <a:fillRect t="-58211" r="-2" b="-58226"/>
              </a:stretch>
            </a:blipFill>
            <a:ln w="9526" cap="sq">
              <a:solidFill>
                <a:srgbClr val="2B0AFF"/>
              </a:solidFill>
              <a:prstDash val="solid"/>
              <a:miter/>
            </a:ln>
          </p:spPr>
        </p:sp>
      </p:grpSp>
      <p:sp>
        <p:nvSpPr>
          <p:cNvPr id="8" name="TextBox 8"/>
          <p:cNvSpPr txBox="1"/>
          <p:nvPr/>
        </p:nvSpPr>
        <p:spPr>
          <a:xfrm>
            <a:off x="3584372" y="442617"/>
            <a:ext cx="2154288" cy="154334"/>
          </a:xfrm>
          <a:prstGeom prst="rect">
            <a:avLst/>
          </a:prstGeom>
        </p:spPr>
        <p:txBody>
          <a:bodyPr lIns="0" tIns="0" rIns="0" bIns="0" rtlCol="0" anchor="t">
            <a:spAutoFit/>
          </a:bodyPr>
          <a:lstStyle/>
          <a:p>
            <a:pPr algn="l">
              <a:lnSpc>
                <a:spcPts val="1135"/>
              </a:lnSpc>
            </a:pPr>
            <a:r>
              <a:rPr lang="en-US" sz="900">
                <a:solidFill>
                  <a:srgbClr val="2B0AFF"/>
                </a:solidFill>
                <a:latin typeface="Inter" panose="02000503000000020004"/>
                <a:ea typeface="Inter" panose="02000503000000020004"/>
                <a:cs typeface="Inter" panose="02000503000000020004"/>
                <a:sym typeface="Inter" panose="02000503000000020004"/>
              </a:rPr>
              <a:t>PROJECT WORKFLOW</a:t>
            </a:r>
            <a:endParaRPr lang="en-US" sz="900">
              <a:solidFill>
                <a:srgbClr val="2B0AFF"/>
              </a:solidFill>
              <a:latin typeface="Inter" panose="02000503000000020004"/>
              <a:ea typeface="Inter" panose="02000503000000020004"/>
              <a:cs typeface="Inter" panose="02000503000000020004"/>
              <a:sym typeface="Inter" panose="02000503000000020004"/>
            </a:endParaRPr>
          </a:p>
        </p:txBody>
      </p:sp>
      <p:sp>
        <p:nvSpPr>
          <p:cNvPr id="9" name="TextBox 9"/>
          <p:cNvSpPr txBox="1"/>
          <p:nvPr/>
        </p:nvSpPr>
        <p:spPr>
          <a:xfrm>
            <a:off x="3488827" y="672998"/>
            <a:ext cx="6926456" cy="457648"/>
          </a:xfrm>
          <a:prstGeom prst="rect">
            <a:avLst/>
          </a:prstGeom>
        </p:spPr>
        <p:txBody>
          <a:bodyPr lIns="0" tIns="0" rIns="0" bIns="0" rtlCol="0" anchor="t">
            <a:spAutoFit/>
          </a:bodyPr>
          <a:lstStyle/>
          <a:p>
            <a:pPr algn="l">
              <a:lnSpc>
                <a:spcPts val="3495"/>
              </a:lnSpc>
            </a:pPr>
            <a:r>
              <a:rPr lang="en-US" sz="2800" b="1">
                <a:solidFill>
                  <a:srgbClr val="FFFFFF"/>
                </a:solidFill>
                <a:latin typeface="Inter Bold" panose="02000503000000020004"/>
                <a:ea typeface="Inter Bold" panose="02000503000000020004"/>
                <a:cs typeface="Inter Bold" panose="02000503000000020004"/>
                <a:sym typeface="Inter Bold" panose="02000503000000020004"/>
              </a:rPr>
              <a:t>From Raw Data to Business Insight</a:t>
            </a:r>
            <a:endParaRPr lang="en-US" sz="2800" b="1">
              <a:solidFill>
                <a:srgbClr val="FFFFFF"/>
              </a:solidFill>
              <a:latin typeface="Inter Bold" panose="02000503000000020004"/>
              <a:ea typeface="Inter Bold" panose="02000503000000020004"/>
              <a:cs typeface="Inter Bold" panose="02000503000000020004"/>
              <a:sym typeface="Inter Bold" panose="02000503000000020004"/>
            </a:endParaRPr>
          </a:p>
        </p:txBody>
      </p:sp>
      <p:sp>
        <p:nvSpPr>
          <p:cNvPr id="10" name="TextBox 10"/>
          <p:cNvSpPr txBox="1"/>
          <p:nvPr/>
        </p:nvSpPr>
        <p:spPr>
          <a:xfrm>
            <a:off x="3488827" y="1245394"/>
            <a:ext cx="12224737" cy="190652"/>
          </a:xfrm>
          <a:prstGeom prst="rect">
            <a:avLst/>
          </a:prstGeom>
        </p:spPr>
        <p:txBody>
          <a:bodyPr lIns="0" tIns="0" rIns="0" bIns="0" rtlCol="0" anchor="t">
            <a:spAutoFit/>
          </a:bodyPr>
          <a:lstStyle/>
          <a:p>
            <a:pPr algn="l">
              <a:lnSpc>
                <a:spcPts val="1385"/>
              </a:lnSpc>
            </a:pPr>
            <a:r>
              <a:rPr lang="en-US" sz="1100">
                <a:solidFill>
                  <a:srgbClr val="E5E0DF"/>
                </a:solidFill>
                <a:latin typeface="Inter" panose="02000503000000020004"/>
                <a:ea typeface="Inter" panose="02000503000000020004"/>
                <a:cs typeface="Inter" panose="02000503000000020004"/>
                <a:sym typeface="Inter" panose="02000503000000020004"/>
              </a:rPr>
              <a:t>The analytical pipeline transforms raw corporate AI adoption data into evidence-based recommendations through a structured, seven-stage workflow.</a:t>
            </a:r>
            <a:endParaRPr lang="en-US" sz="1100">
              <a:solidFill>
                <a:srgbClr val="E5E0DF"/>
              </a:solidFill>
              <a:latin typeface="Inter" panose="02000503000000020004"/>
              <a:ea typeface="Inter" panose="02000503000000020004"/>
              <a:cs typeface="Inter" panose="02000503000000020004"/>
              <a:sym typeface="Inter" panose="02000503000000020004"/>
            </a:endParaRPr>
          </a:p>
        </p:txBody>
      </p:sp>
      <p:grpSp>
        <p:nvGrpSpPr>
          <p:cNvPr id="11" name="Group 11"/>
          <p:cNvGrpSpPr/>
          <p:nvPr/>
        </p:nvGrpSpPr>
        <p:grpSpPr>
          <a:xfrm rot="0">
            <a:off x="3488827" y="1529210"/>
            <a:ext cx="11310337" cy="6312694"/>
            <a:chOff x="0" y="0"/>
            <a:chExt cx="15080450" cy="8416925"/>
          </a:xfrm>
        </p:grpSpPr>
        <p:sp>
          <p:nvSpPr>
            <p:cNvPr id="12" name="Freeform 12" descr="preencoded.png"/>
            <p:cNvSpPr/>
            <p:nvPr/>
          </p:nvSpPr>
          <p:spPr>
            <a:xfrm>
              <a:off x="0" y="0"/>
              <a:ext cx="15080487" cy="8416925"/>
            </a:xfrm>
            <a:custGeom>
              <a:avLst/>
              <a:gdLst/>
              <a:ahLst/>
              <a:cxnLst/>
              <a:rect l="l" t="t" r="r" b="b"/>
              <a:pathLst>
                <a:path w="15080487" h="8416925">
                  <a:moveTo>
                    <a:pt x="0" y="0"/>
                  </a:moveTo>
                  <a:lnTo>
                    <a:pt x="15080487" y="0"/>
                  </a:lnTo>
                  <a:lnTo>
                    <a:pt x="15080487" y="8416925"/>
                  </a:lnTo>
                  <a:lnTo>
                    <a:pt x="0" y="8416925"/>
                  </a:lnTo>
                  <a:lnTo>
                    <a:pt x="0" y="0"/>
                  </a:lnTo>
                  <a:close/>
                </a:path>
              </a:pathLst>
            </a:custGeom>
            <a:blipFill>
              <a:blip r:embed="rId2"/>
              <a:stretch>
                <a:fillRect t="-37" b="-37"/>
              </a:stretch>
            </a:blipFill>
          </p:spPr>
        </p:sp>
      </p:grpSp>
      <p:grpSp>
        <p:nvGrpSpPr>
          <p:cNvPr id="13" name="Group 13"/>
          <p:cNvGrpSpPr/>
          <p:nvPr/>
        </p:nvGrpSpPr>
        <p:grpSpPr>
          <a:xfrm rot="0">
            <a:off x="3488827" y="7935068"/>
            <a:ext cx="11310337" cy="907704"/>
            <a:chOff x="0" y="0"/>
            <a:chExt cx="15080450" cy="1210272"/>
          </a:xfrm>
        </p:grpSpPr>
        <p:sp>
          <p:nvSpPr>
            <p:cNvPr id="14" name="Freeform 14"/>
            <p:cNvSpPr/>
            <p:nvPr/>
          </p:nvSpPr>
          <p:spPr>
            <a:xfrm>
              <a:off x="0" y="0"/>
              <a:ext cx="15080360" cy="1210183"/>
            </a:xfrm>
            <a:custGeom>
              <a:avLst/>
              <a:gdLst/>
              <a:ahLst/>
              <a:cxnLst/>
              <a:rect l="l" t="t" r="r" b="b"/>
              <a:pathLst>
                <a:path w="15080360" h="1210183">
                  <a:moveTo>
                    <a:pt x="0" y="80264"/>
                  </a:moveTo>
                  <a:cubicBezTo>
                    <a:pt x="0" y="35941"/>
                    <a:pt x="35941" y="0"/>
                    <a:pt x="80264" y="0"/>
                  </a:cubicBezTo>
                  <a:lnTo>
                    <a:pt x="15000097" y="0"/>
                  </a:lnTo>
                  <a:cubicBezTo>
                    <a:pt x="15044420" y="0"/>
                    <a:pt x="15080360" y="35941"/>
                    <a:pt x="15080360" y="80264"/>
                  </a:cubicBezTo>
                  <a:lnTo>
                    <a:pt x="15080360" y="1129919"/>
                  </a:lnTo>
                  <a:cubicBezTo>
                    <a:pt x="15080360" y="1174242"/>
                    <a:pt x="15044420" y="1210183"/>
                    <a:pt x="15000097" y="1210183"/>
                  </a:cubicBezTo>
                  <a:lnTo>
                    <a:pt x="80264" y="1210183"/>
                  </a:lnTo>
                  <a:cubicBezTo>
                    <a:pt x="35941" y="1210310"/>
                    <a:pt x="0" y="1174369"/>
                    <a:pt x="0" y="1129919"/>
                  </a:cubicBezTo>
                  <a:close/>
                </a:path>
              </a:pathLst>
            </a:custGeom>
            <a:solidFill>
              <a:srgbClr val="0A004D"/>
            </a:solidFill>
          </p:spPr>
        </p:sp>
      </p:grpSp>
      <p:grpSp>
        <p:nvGrpSpPr>
          <p:cNvPr id="15" name="Group 15"/>
          <p:cNvGrpSpPr/>
          <p:nvPr/>
        </p:nvGrpSpPr>
        <p:grpSpPr>
          <a:xfrm rot="0">
            <a:off x="3632149" y="8068266"/>
            <a:ext cx="223990" cy="179194"/>
            <a:chOff x="0" y="0"/>
            <a:chExt cx="298653" cy="238925"/>
          </a:xfrm>
        </p:grpSpPr>
        <p:sp>
          <p:nvSpPr>
            <p:cNvPr id="16" name="Freeform 16" descr="preencoded.png"/>
            <p:cNvSpPr/>
            <p:nvPr/>
          </p:nvSpPr>
          <p:spPr>
            <a:xfrm>
              <a:off x="0" y="0"/>
              <a:ext cx="298704" cy="238887"/>
            </a:xfrm>
            <a:custGeom>
              <a:avLst/>
              <a:gdLst/>
              <a:ahLst/>
              <a:cxnLst/>
              <a:rect l="l" t="t" r="r" b="b"/>
              <a:pathLst>
                <a:path w="298704" h="238887">
                  <a:moveTo>
                    <a:pt x="0" y="0"/>
                  </a:moveTo>
                  <a:lnTo>
                    <a:pt x="298704" y="0"/>
                  </a:lnTo>
                  <a:lnTo>
                    <a:pt x="298704" y="238887"/>
                  </a:lnTo>
                  <a:lnTo>
                    <a:pt x="0" y="238887"/>
                  </a:lnTo>
                  <a:lnTo>
                    <a:pt x="0" y="0"/>
                  </a:lnTo>
                  <a:close/>
                </a:path>
              </a:pathLst>
            </a:custGeom>
            <a:blipFill>
              <a:blip r:embed="rId3"/>
              <a:stretch>
                <a:fillRect l="-527" r="-505" b="-15"/>
              </a:stretch>
            </a:blipFill>
          </p:spPr>
        </p:sp>
      </p:grpSp>
      <p:sp>
        <p:nvSpPr>
          <p:cNvPr id="17" name="TextBox 17"/>
          <p:cNvSpPr txBox="1"/>
          <p:nvPr/>
        </p:nvSpPr>
        <p:spPr>
          <a:xfrm>
            <a:off x="3999462" y="8044158"/>
            <a:ext cx="2707186" cy="243183"/>
          </a:xfrm>
          <a:prstGeom prst="rect">
            <a:avLst/>
          </a:prstGeom>
        </p:spPr>
        <p:txBody>
          <a:bodyPr lIns="0" tIns="0" rIns="0" bIns="0" rtlCol="0" anchor="t">
            <a:spAutoFit/>
          </a:bodyPr>
          <a:lstStyle/>
          <a:p>
            <a:pPr algn="l">
              <a:lnSpc>
                <a:spcPts val="1745"/>
              </a:lnSpc>
            </a:pPr>
            <a:r>
              <a:rPr lang="en-US" sz="1400" b="1">
                <a:solidFill>
                  <a:srgbClr val="000000"/>
                </a:solidFill>
                <a:latin typeface="Inter Bold" panose="02000503000000020004"/>
                <a:ea typeface="Inter Bold" panose="02000503000000020004"/>
                <a:cs typeface="Inter Bold" panose="02000503000000020004"/>
                <a:sym typeface="Inter Bold" panose="02000503000000020004"/>
              </a:rPr>
              <a:t>📊</a:t>
            </a:r>
            <a:r>
              <a:rPr lang="en-US" sz="1400" b="1">
                <a:solidFill>
                  <a:srgbClr val="FFFFFF"/>
                </a:solidFill>
                <a:latin typeface="Inter Bold" panose="02000503000000020004"/>
                <a:ea typeface="Inter Bold" panose="02000503000000020004"/>
                <a:cs typeface="Inter Bold" panose="02000503000000020004"/>
                <a:sym typeface="Inter Bold" panose="02000503000000020004"/>
              </a:rPr>
              <a:t> Example Insight</a:t>
            </a:r>
            <a:endParaRPr lang="en-US" sz="1400" b="1">
              <a:solidFill>
                <a:srgbClr val="FFFFFF"/>
              </a:solidFill>
              <a:latin typeface="Inter Bold" panose="02000503000000020004"/>
              <a:ea typeface="Inter Bold" panose="02000503000000020004"/>
              <a:cs typeface="Inter Bold" panose="02000503000000020004"/>
              <a:sym typeface="Inter Bold" panose="02000503000000020004"/>
            </a:endParaRPr>
          </a:p>
        </p:txBody>
      </p:sp>
      <p:sp>
        <p:nvSpPr>
          <p:cNvPr id="18" name="TextBox 18"/>
          <p:cNvSpPr txBox="1"/>
          <p:nvPr/>
        </p:nvSpPr>
        <p:spPr>
          <a:xfrm>
            <a:off x="3999462" y="8360721"/>
            <a:ext cx="10656389" cy="371770"/>
          </a:xfrm>
          <a:prstGeom prst="rect">
            <a:avLst/>
          </a:prstGeom>
        </p:spPr>
        <p:txBody>
          <a:bodyPr lIns="0" tIns="0" rIns="0" bIns="0" rtlCol="0" anchor="t">
            <a:spAutoFit/>
          </a:bodyPr>
          <a:lstStyle/>
          <a:p>
            <a:pPr algn="l">
              <a:lnSpc>
                <a:spcPts val="1385"/>
              </a:lnSpc>
            </a:pPr>
            <a:r>
              <a:rPr lang="en-US" sz="1100" i="1">
                <a:solidFill>
                  <a:srgbClr val="FFFFFF"/>
                </a:solidFill>
                <a:latin typeface="Inter Italics" panose="02000503000000020004"/>
                <a:ea typeface="Inter Italics" panose="02000503000000020004"/>
                <a:cs typeface="Inter Italics" panose="02000503000000020004"/>
                <a:sym typeface="Inter Italics" panose="02000503000000020004"/>
              </a:rPr>
              <a:t>"Healthcare companies in India with more than </a:t>
            </a:r>
            <a:r>
              <a:rPr lang="en-US" sz="1100" b="1" i="1">
                <a:solidFill>
                  <a:srgbClr val="FFFFFF"/>
                </a:solidFill>
                <a:latin typeface="Inter Bold Italics" panose="02000503000000020004"/>
                <a:ea typeface="Inter Bold Italics" panose="02000503000000020004"/>
                <a:cs typeface="Inter Bold Italics" panose="02000503000000020004"/>
                <a:sym typeface="Inter Bold Italics" panose="02000503000000020004"/>
              </a:rPr>
              <a:t>100 training hours</a:t>
            </a:r>
            <a:r>
              <a:rPr lang="en-US" sz="1100" i="1">
                <a:solidFill>
                  <a:srgbClr val="FFFFFF"/>
                </a:solidFill>
                <a:latin typeface="Inter Italics" panose="02000503000000020004"/>
                <a:ea typeface="Inter Italics" panose="02000503000000020004"/>
                <a:cs typeface="Inter Italics" panose="02000503000000020004"/>
                <a:sym typeface="Inter Italics" panose="02000503000000020004"/>
              </a:rPr>
              <a:t> achieved significantly higher productivity gains than companies with fewer than </a:t>
            </a:r>
            <a:r>
              <a:rPr lang="en-US" sz="1100" b="1" i="1">
                <a:solidFill>
                  <a:srgbClr val="FFFFFF"/>
                </a:solidFill>
                <a:latin typeface="Inter Bold Italics" panose="02000503000000020004"/>
                <a:ea typeface="Inter Bold Italics" panose="02000503000000020004"/>
                <a:cs typeface="Inter Bold Italics" panose="02000503000000020004"/>
                <a:sym typeface="Inter Bold Italics" panose="02000503000000020004"/>
              </a:rPr>
              <a:t>40 hours</a:t>
            </a:r>
            <a:r>
              <a:rPr lang="en-US" sz="1100" i="1">
                <a:solidFill>
                  <a:srgbClr val="FFFFFF"/>
                </a:solidFill>
                <a:latin typeface="Inter Italics" panose="02000503000000020004"/>
                <a:ea typeface="Inter Italics" panose="02000503000000020004"/>
                <a:cs typeface="Inter Italics" panose="02000503000000020004"/>
                <a:sym typeface="Inter Italics" panose="02000503000000020004"/>
              </a:rPr>
              <a:t> of training — representing a measurable return on AI education investment."</a:t>
            </a:r>
            <a:endParaRPr lang="en-US" sz="1100" i="1">
              <a:solidFill>
                <a:srgbClr val="FFFFFF"/>
              </a:solidFill>
              <a:latin typeface="Inter Italics" panose="02000503000000020004"/>
              <a:ea typeface="Inter Italics" panose="02000503000000020004"/>
              <a:cs typeface="Inter Italics" panose="02000503000000020004"/>
              <a:sym typeface="Inter Italics" panose="02000503000000020004"/>
            </a:endParaRPr>
          </a:p>
        </p:txBody>
      </p:sp>
      <p:grpSp>
        <p:nvGrpSpPr>
          <p:cNvPr id="19" name="Group 19"/>
          <p:cNvGrpSpPr/>
          <p:nvPr/>
        </p:nvGrpSpPr>
        <p:grpSpPr>
          <a:xfrm rot="0">
            <a:off x="3484064" y="8931173"/>
            <a:ext cx="3724275" cy="960834"/>
            <a:chOff x="0" y="0"/>
            <a:chExt cx="4965700" cy="1281112"/>
          </a:xfrm>
        </p:grpSpPr>
        <p:sp>
          <p:nvSpPr>
            <p:cNvPr id="20" name="Freeform 20"/>
            <p:cNvSpPr/>
            <p:nvPr/>
          </p:nvSpPr>
          <p:spPr>
            <a:xfrm>
              <a:off x="0" y="0"/>
              <a:ext cx="4965700" cy="1281176"/>
            </a:xfrm>
            <a:custGeom>
              <a:avLst/>
              <a:gdLst/>
              <a:ahLst/>
              <a:cxnLst/>
              <a:rect l="l" t="t" r="r" b="b"/>
              <a:pathLst>
                <a:path w="4965700" h="1281176">
                  <a:moveTo>
                    <a:pt x="0" y="81153"/>
                  </a:moveTo>
                  <a:cubicBezTo>
                    <a:pt x="0" y="36322"/>
                    <a:pt x="36322" y="0"/>
                    <a:pt x="81153" y="0"/>
                  </a:cubicBezTo>
                  <a:lnTo>
                    <a:pt x="4884547" y="0"/>
                  </a:lnTo>
                  <a:cubicBezTo>
                    <a:pt x="4929378" y="0"/>
                    <a:pt x="4965700" y="36322"/>
                    <a:pt x="4965700" y="81153"/>
                  </a:cubicBezTo>
                  <a:lnTo>
                    <a:pt x="4965700" y="1200023"/>
                  </a:lnTo>
                  <a:cubicBezTo>
                    <a:pt x="4965700" y="1244854"/>
                    <a:pt x="4929378" y="1281176"/>
                    <a:pt x="4884547" y="1281176"/>
                  </a:cubicBezTo>
                  <a:lnTo>
                    <a:pt x="81153" y="1281176"/>
                  </a:lnTo>
                  <a:cubicBezTo>
                    <a:pt x="36322" y="1281176"/>
                    <a:pt x="0" y="1244854"/>
                    <a:pt x="0" y="1200023"/>
                  </a:cubicBezTo>
                  <a:close/>
                </a:path>
              </a:pathLst>
            </a:custGeom>
            <a:solidFill>
              <a:srgbClr val="110080"/>
            </a:solidFill>
            <a:ln w="9526" cap="sq">
              <a:solidFill>
                <a:srgbClr val="2A1999"/>
              </a:solidFill>
              <a:prstDash val="solid"/>
              <a:miter/>
            </a:ln>
          </p:spPr>
        </p:sp>
      </p:grpSp>
      <p:sp>
        <p:nvSpPr>
          <p:cNvPr id="21" name="TextBox 21"/>
          <p:cNvSpPr txBox="1"/>
          <p:nvPr/>
        </p:nvSpPr>
        <p:spPr>
          <a:xfrm>
            <a:off x="3641674" y="9079259"/>
            <a:ext cx="1792786" cy="243183"/>
          </a:xfrm>
          <a:prstGeom prst="rect">
            <a:avLst/>
          </a:prstGeom>
        </p:spPr>
        <p:txBody>
          <a:bodyPr lIns="0" tIns="0" rIns="0" bIns="0" rtlCol="0" anchor="t">
            <a:spAutoFit/>
          </a:bodyPr>
          <a:lstStyle/>
          <a:p>
            <a:pPr algn="l">
              <a:lnSpc>
                <a:spcPts val="1745"/>
              </a:lnSpc>
            </a:pPr>
            <a:r>
              <a:rPr lang="en-US" sz="1400" b="1">
                <a:solidFill>
                  <a:srgbClr val="000000"/>
                </a:solidFill>
                <a:latin typeface="Inter Bold" panose="02000503000000020004"/>
                <a:ea typeface="Inter Bold" panose="02000503000000020004"/>
                <a:cs typeface="Inter Bold" panose="02000503000000020004"/>
                <a:sym typeface="Inter Bold" panose="02000503000000020004"/>
              </a:rPr>
              <a:t>🔍</a:t>
            </a:r>
            <a:r>
              <a:rPr lang="en-US" sz="1400" b="1">
                <a:solidFill>
                  <a:srgbClr val="E5E0DF"/>
                </a:solidFill>
                <a:latin typeface="Inter Bold" panose="02000503000000020004"/>
                <a:ea typeface="Inter Bold" panose="02000503000000020004"/>
                <a:cs typeface="Inter Bold" panose="02000503000000020004"/>
                <a:sym typeface="Inter Bold" panose="02000503000000020004"/>
              </a:rPr>
              <a:t> Reproducible</a:t>
            </a:r>
            <a:endParaRPr lang="en-US" sz="1400" b="1">
              <a:solidFill>
                <a:srgbClr val="E5E0DF"/>
              </a:solidFill>
              <a:latin typeface="Inter Bold" panose="02000503000000020004"/>
              <a:ea typeface="Inter Bold" panose="02000503000000020004"/>
              <a:cs typeface="Inter Bold" panose="02000503000000020004"/>
              <a:sym typeface="Inter Bold" panose="02000503000000020004"/>
            </a:endParaRPr>
          </a:p>
        </p:txBody>
      </p:sp>
      <p:sp>
        <p:nvSpPr>
          <p:cNvPr id="22" name="TextBox 22"/>
          <p:cNvSpPr txBox="1"/>
          <p:nvPr/>
        </p:nvSpPr>
        <p:spPr>
          <a:xfrm>
            <a:off x="3641674" y="9362627"/>
            <a:ext cx="3409055" cy="371770"/>
          </a:xfrm>
          <a:prstGeom prst="rect">
            <a:avLst/>
          </a:prstGeom>
        </p:spPr>
        <p:txBody>
          <a:bodyPr lIns="0" tIns="0" rIns="0" bIns="0" rtlCol="0" anchor="t">
            <a:spAutoFit/>
          </a:bodyPr>
          <a:lstStyle/>
          <a:p>
            <a:pPr algn="l">
              <a:lnSpc>
                <a:spcPts val="1385"/>
              </a:lnSpc>
            </a:pPr>
            <a:r>
              <a:rPr lang="en-US" sz="1100">
                <a:solidFill>
                  <a:srgbClr val="E5E0DF"/>
                </a:solidFill>
                <a:latin typeface="Inter" panose="02000503000000020004"/>
                <a:ea typeface="Inter" panose="02000503000000020004"/>
                <a:cs typeface="Inter" panose="02000503000000020004"/>
                <a:sym typeface="Inter" panose="02000503000000020004"/>
              </a:rPr>
              <a:t>Every analytical step is documented and version-controlled via GitHub.</a:t>
            </a:r>
            <a:endParaRPr lang="en-US" sz="1100">
              <a:solidFill>
                <a:srgbClr val="E5E0DF"/>
              </a:solidFill>
              <a:latin typeface="Inter" panose="02000503000000020004"/>
              <a:ea typeface="Inter" panose="02000503000000020004"/>
              <a:cs typeface="Inter" panose="02000503000000020004"/>
              <a:sym typeface="Inter" panose="02000503000000020004"/>
            </a:endParaRPr>
          </a:p>
        </p:txBody>
      </p:sp>
      <p:grpSp>
        <p:nvGrpSpPr>
          <p:cNvPr id="23" name="Group 23"/>
          <p:cNvGrpSpPr/>
          <p:nvPr/>
        </p:nvGrpSpPr>
        <p:grpSpPr>
          <a:xfrm rot="0">
            <a:off x="7281710" y="8931173"/>
            <a:ext cx="3724427" cy="960834"/>
            <a:chOff x="0" y="0"/>
            <a:chExt cx="4965903" cy="1281112"/>
          </a:xfrm>
        </p:grpSpPr>
        <p:sp>
          <p:nvSpPr>
            <p:cNvPr id="24" name="Freeform 24"/>
            <p:cNvSpPr/>
            <p:nvPr/>
          </p:nvSpPr>
          <p:spPr>
            <a:xfrm>
              <a:off x="0" y="0"/>
              <a:ext cx="4965954" cy="1281176"/>
            </a:xfrm>
            <a:custGeom>
              <a:avLst/>
              <a:gdLst/>
              <a:ahLst/>
              <a:cxnLst/>
              <a:rect l="l" t="t" r="r" b="b"/>
              <a:pathLst>
                <a:path w="4965954" h="1281176">
                  <a:moveTo>
                    <a:pt x="0" y="81153"/>
                  </a:moveTo>
                  <a:cubicBezTo>
                    <a:pt x="0" y="36322"/>
                    <a:pt x="36322" y="0"/>
                    <a:pt x="81153" y="0"/>
                  </a:cubicBezTo>
                  <a:lnTo>
                    <a:pt x="4884801" y="0"/>
                  </a:lnTo>
                  <a:cubicBezTo>
                    <a:pt x="4929632" y="0"/>
                    <a:pt x="4965954" y="36322"/>
                    <a:pt x="4965954" y="81153"/>
                  </a:cubicBezTo>
                  <a:lnTo>
                    <a:pt x="4965954" y="1200023"/>
                  </a:lnTo>
                  <a:cubicBezTo>
                    <a:pt x="4965954" y="1244854"/>
                    <a:pt x="4929632" y="1281176"/>
                    <a:pt x="4884801" y="1281176"/>
                  </a:cubicBezTo>
                  <a:lnTo>
                    <a:pt x="81153" y="1281176"/>
                  </a:lnTo>
                  <a:cubicBezTo>
                    <a:pt x="36322" y="1281176"/>
                    <a:pt x="0" y="1244854"/>
                    <a:pt x="0" y="1200023"/>
                  </a:cubicBezTo>
                  <a:close/>
                </a:path>
              </a:pathLst>
            </a:custGeom>
            <a:solidFill>
              <a:srgbClr val="110080"/>
            </a:solidFill>
            <a:ln w="9526" cap="sq">
              <a:solidFill>
                <a:srgbClr val="2A1999"/>
              </a:solidFill>
              <a:prstDash val="solid"/>
              <a:miter/>
            </a:ln>
          </p:spPr>
        </p:sp>
      </p:grpSp>
      <p:sp>
        <p:nvSpPr>
          <p:cNvPr id="25" name="TextBox 25"/>
          <p:cNvSpPr txBox="1"/>
          <p:nvPr/>
        </p:nvSpPr>
        <p:spPr>
          <a:xfrm>
            <a:off x="7439320" y="9079259"/>
            <a:ext cx="1792786" cy="243183"/>
          </a:xfrm>
          <a:prstGeom prst="rect">
            <a:avLst/>
          </a:prstGeom>
        </p:spPr>
        <p:txBody>
          <a:bodyPr lIns="0" tIns="0" rIns="0" bIns="0" rtlCol="0" anchor="t">
            <a:spAutoFit/>
          </a:bodyPr>
          <a:lstStyle/>
          <a:p>
            <a:pPr algn="l">
              <a:lnSpc>
                <a:spcPts val="1745"/>
              </a:lnSpc>
            </a:pPr>
            <a:r>
              <a:rPr lang="en-US" sz="1400" b="1">
                <a:solidFill>
                  <a:srgbClr val="000000"/>
                </a:solidFill>
                <a:latin typeface="Inter Bold" panose="02000503000000020004"/>
                <a:ea typeface="Inter Bold" panose="02000503000000020004"/>
                <a:cs typeface="Inter Bold" panose="02000503000000020004"/>
                <a:sym typeface="Inter Bold" panose="02000503000000020004"/>
              </a:rPr>
              <a:t>📈</a:t>
            </a:r>
            <a:r>
              <a:rPr lang="en-US" sz="1400" b="1">
                <a:solidFill>
                  <a:srgbClr val="E5E0DF"/>
                </a:solidFill>
                <a:latin typeface="Inter Bold" panose="02000503000000020004"/>
                <a:ea typeface="Inter Bold" panose="02000503000000020004"/>
                <a:cs typeface="Inter Bold" panose="02000503000000020004"/>
                <a:sym typeface="Inter Bold" panose="02000503000000020004"/>
              </a:rPr>
              <a:t> Scalable</a:t>
            </a:r>
            <a:endParaRPr lang="en-US" sz="1400" b="1">
              <a:solidFill>
                <a:srgbClr val="E5E0DF"/>
              </a:solidFill>
              <a:latin typeface="Inter Bold" panose="02000503000000020004"/>
              <a:ea typeface="Inter Bold" panose="02000503000000020004"/>
              <a:cs typeface="Inter Bold" panose="02000503000000020004"/>
              <a:sym typeface="Inter Bold" panose="02000503000000020004"/>
            </a:endParaRPr>
          </a:p>
        </p:txBody>
      </p:sp>
      <p:sp>
        <p:nvSpPr>
          <p:cNvPr id="26" name="TextBox 26"/>
          <p:cNvSpPr txBox="1"/>
          <p:nvPr/>
        </p:nvSpPr>
        <p:spPr>
          <a:xfrm>
            <a:off x="7439320" y="9362627"/>
            <a:ext cx="3409207" cy="371770"/>
          </a:xfrm>
          <a:prstGeom prst="rect">
            <a:avLst/>
          </a:prstGeom>
        </p:spPr>
        <p:txBody>
          <a:bodyPr lIns="0" tIns="0" rIns="0" bIns="0" rtlCol="0" anchor="t">
            <a:spAutoFit/>
          </a:bodyPr>
          <a:lstStyle/>
          <a:p>
            <a:pPr algn="l">
              <a:lnSpc>
                <a:spcPts val="1385"/>
              </a:lnSpc>
            </a:pPr>
            <a:r>
              <a:rPr lang="en-US" sz="1100">
                <a:solidFill>
                  <a:srgbClr val="E5E0DF"/>
                </a:solidFill>
                <a:latin typeface="Inter" panose="02000503000000020004"/>
                <a:ea typeface="Inter" panose="02000503000000020004"/>
                <a:cs typeface="Inter" panose="02000503000000020004"/>
                <a:sym typeface="Inter" panose="02000503000000020004"/>
              </a:rPr>
              <a:t>Architecture supports additional datasets, industries, and metrics over time.</a:t>
            </a:r>
            <a:endParaRPr lang="en-US" sz="1100">
              <a:solidFill>
                <a:srgbClr val="E5E0DF"/>
              </a:solidFill>
              <a:latin typeface="Inter" panose="02000503000000020004"/>
              <a:ea typeface="Inter" panose="02000503000000020004"/>
              <a:cs typeface="Inter" panose="02000503000000020004"/>
              <a:sym typeface="Inter" panose="02000503000000020004"/>
            </a:endParaRPr>
          </a:p>
        </p:txBody>
      </p:sp>
      <p:grpSp>
        <p:nvGrpSpPr>
          <p:cNvPr id="27" name="Group 27"/>
          <p:cNvGrpSpPr/>
          <p:nvPr/>
        </p:nvGrpSpPr>
        <p:grpSpPr>
          <a:xfrm rot="0">
            <a:off x="11079509" y="8931173"/>
            <a:ext cx="3724275" cy="960834"/>
            <a:chOff x="0" y="0"/>
            <a:chExt cx="4965700" cy="1281112"/>
          </a:xfrm>
        </p:grpSpPr>
        <p:sp>
          <p:nvSpPr>
            <p:cNvPr id="28" name="Freeform 28"/>
            <p:cNvSpPr/>
            <p:nvPr/>
          </p:nvSpPr>
          <p:spPr>
            <a:xfrm>
              <a:off x="0" y="0"/>
              <a:ext cx="4965700" cy="1281176"/>
            </a:xfrm>
            <a:custGeom>
              <a:avLst/>
              <a:gdLst/>
              <a:ahLst/>
              <a:cxnLst/>
              <a:rect l="l" t="t" r="r" b="b"/>
              <a:pathLst>
                <a:path w="4965700" h="1281176">
                  <a:moveTo>
                    <a:pt x="0" y="81153"/>
                  </a:moveTo>
                  <a:cubicBezTo>
                    <a:pt x="0" y="36322"/>
                    <a:pt x="36322" y="0"/>
                    <a:pt x="81153" y="0"/>
                  </a:cubicBezTo>
                  <a:lnTo>
                    <a:pt x="4884547" y="0"/>
                  </a:lnTo>
                  <a:cubicBezTo>
                    <a:pt x="4929378" y="0"/>
                    <a:pt x="4965700" y="36322"/>
                    <a:pt x="4965700" y="81153"/>
                  </a:cubicBezTo>
                  <a:lnTo>
                    <a:pt x="4965700" y="1200023"/>
                  </a:lnTo>
                  <a:cubicBezTo>
                    <a:pt x="4965700" y="1244854"/>
                    <a:pt x="4929378" y="1281176"/>
                    <a:pt x="4884547" y="1281176"/>
                  </a:cubicBezTo>
                  <a:lnTo>
                    <a:pt x="81153" y="1281176"/>
                  </a:lnTo>
                  <a:cubicBezTo>
                    <a:pt x="36322" y="1281176"/>
                    <a:pt x="0" y="1244854"/>
                    <a:pt x="0" y="1200023"/>
                  </a:cubicBezTo>
                  <a:close/>
                </a:path>
              </a:pathLst>
            </a:custGeom>
            <a:solidFill>
              <a:srgbClr val="110080"/>
            </a:solidFill>
            <a:ln w="9526" cap="sq">
              <a:solidFill>
                <a:srgbClr val="2A1999"/>
              </a:solidFill>
              <a:prstDash val="solid"/>
              <a:miter/>
            </a:ln>
          </p:spPr>
        </p:sp>
      </p:grpSp>
      <p:sp>
        <p:nvSpPr>
          <p:cNvPr id="29" name="TextBox 29"/>
          <p:cNvSpPr txBox="1"/>
          <p:nvPr/>
        </p:nvSpPr>
        <p:spPr>
          <a:xfrm>
            <a:off x="11237119" y="9079259"/>
            <a:ext cx="1792786" cy="243183"/>
          </a:xfrm>
          <a:prstGeom prst="rect">
            <a:avLst/>
          </a:prstGeom>
        </p:spPr>
        <p:txBody>
          <a:bodyPr lIns="0" tIns="0" rIns="0" bIns="0" rtlCol="0" anchor="t">
            <a:spAutoFit/>
          </a:bodyPr>
          <a:lstStyle/>
          <a:p>
            <a:pPr algn="l">
              <a:lnSpc>
                <a:spcPts val="1745"/>
              </a:lnSpc>
            </a:pPr>
            <a:r>
              <a:rPr lang="en-US" sz="1400" b="1">
                <a:solidFill>
                  <a:srgbClr val="000000"/>
                </a:solidFill>
                <a:latin typeface="Inter Bold" panose="02000503000000020004"/>
                <a:ea typeface="Inter Bold" panose="02000503000000020004"/>
                <a:cs typeface="Inter Bold" panose="02000503000000020004"/>
                <a:sym typeface="Inter Bold" panose="02000503000000020004"/>
              </a:rPr>
              <a:t>🎯</a:t>
            </a:r>
            <a:r>
              <a:rPr lang="en-US" sz="1400" b="1">
                <a:solidFill>
                  <a:srgbClr val="E5E0DF"/>
                </a:solidFill>
                <a:latin typeface="Inter Bold" panose="02000503000000020004"/>
                <a:ea typeface="Inter Bold" panose="02000503000000020004"/>
                <a:cs typeface="Inter Bold" panose="02000503000000020004"/>
                <a:sym typeface="Inter Bold" panose="02000503000000020004"/>
              </a:rPr>
              <a:t> Actionable</a:t>
            </a:r>
            <a:endParaRPr lang="en-US" sz="1400" b="1">
              <a:solidFill>
                <a:srgbClr val="E5E0DF"/>
              </a:solidFill>
              <a:latin typeface="Inter Bold" panose="02000503000000020004"/>
              <a:ea typeface="Inter Bold" panose="02000503000000020004"/>
              <a:cs typeface="Inter Bold" panose="02000503000000020004"/>
              <a:sym typeface="Inter Bold" panose="02000503000000020004"/>
            </a:endParaRPr>
          </a:p>
        </p:txBody>
      </p:sp>
      <p:sp>
        <p:nvSpPr>
          <p:cNvPr id="30" name="TextBox 30"/>
          <p:cNvSpPr txBox="1"/>
          <p:nvPr/>
        </p:nvSpPr>
        <p:spPr>
          <a:xfrm>
            <a:off x="11237119" y="9362627"/>
            <a:ext cx="3409055" cy="371770"/>
          </a:xfrm>
          <a:prstGeom prst="rect">
            <a:avLst/>
          </a:prstGeom>
        </p:spPr>
        <p:txBody>
          <a:bodyPr lIns="0" tIns="0" rIns="0" bIns="0" rtlCol="0" anchor="t">
            <a:spAutoFit/>
          </a:bodyPr>
          <a:lstStyle/>
          <a:p>
            <a:pPr algn="l">
              <a:lnSpc>
                <a:spcPts val="1385"/>
              </a:lnSpc>
            </a:pPr>
            <a:r>
              <a:rPr lang="en-US" sz="1100">
                <a:solidFill>
                  <a:srgbClr val="E5E0DF"/>
                </a:solidFill>
                <a:latin typeface="Inter" panose="02000503000000020004"/>
                <a:ea typeface="Inter" panose="02000503000000020004"/>
                <a:cs typeface="Inter" panose="02000503000000020004"/>
                <a:sym typeface="Inter" panose="02000503000000020004"/>
              </a:rPr>
              <a:t>Outputs are designed for direct use by L&amp;D teams and executives.</a:t>
            </a:r>
            <a:endParaRPr lang="en-US" sz="1100">
              <a:solidFill>
                <a:srgbClr val="E5E0DF"/>
              </a:solidFill>
              <a:latin typeface="Inter" panose="02000503000000020004"/>
              <a:ea typeface="Inter" panose="02000503000000020004"/>
              <a:cs typeface="Inter" panose="02000503000000020004"/>
              <a:sym typeface="Inter" panose="02000503000000020004"/>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4332</Words>
  <Application>WPS Presentation</Application>
  <PresentationFormat>On-screen Show (4:3)</PresentationFormat>
  <Paragraphs>153</Paragraphs>
  <Slides>7</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7</vt:i4>
      </vt:variant>
    </vt:vector>
  </HeadingPairs>
  <TitlesOfParts>
    <vt:vector size="19" baseType="lpstr">
      <vt:lpstr>Arial</vt:lpstr>
      <vt:lpstr>SimSun</vt:lpstr>
      <vt:lpstr>Wingdings</vt:lpstr>
      <vt:lpstr>Inter</vt:lpstr>
      <vt:lpstr>Inter Bold</vt:lpstr>
      <vt:lpstr>Arial</vt:lpstr>
      <vt:lpstr>Inter Italics</vt:lpstr>
      <vt:lpstr>Inter Bold Italics</vt:lpstr>
      <vt:lpstr>Microsoft YaHei</vt:lpstr>
      <vt:lpstr>Arial Unicode MS</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Training-Hours-vs-Everything.pptx</dc:title>
  <dc:creator/>
  <cp:lastModifiedBy>heerak tiwari</cp:lastModifiedBy>
  <cp:revision>2</cp:revision>
  <dcterms:created xsi:type="dcterms:W3CDTF">2006-08-16T00:00:00Z</dcterms:created>
  <dcterms:modified xsi:type="dcterms:W3CDTF">2026-06-10T15:55:29Z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1033-12.1.0.26880</vt:lpwstr>
  </property>
  <property fmtid="{D5CDD505-2E9C-101B-9397-08002B2CF9AE}" pid="3" name="ICV">
    <vt:lpwstr>BE0AEB8343BB4975BDDD59B5DDBFEC7E_12</vt:lpwstr>
  </property>
</Properties>
</file>